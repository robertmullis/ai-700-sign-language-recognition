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0" r:id="rId16"/>
    <p:sldId id="275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70" r:id="rId25"/>
    <p:sldId id="271" r:id="rId26"/>
    <p:sldId id="272" r:id="rId27"/>
    <p:sldId id="289" r:id="rId28"/>
    <p:sldId id="273" r:id="rId29"/>
    <p:sldId id="274" r:id="rId3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gd0qLELb96rRFM8UvOMY0o8Z9m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-70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7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01462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4dbceaba0_0_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d4dbceaba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1"/>
          <p:cNvSpPr/>
          <p:nvPr/>
        </p:nvSpPr>
        <p:spPr>
          <a:xfrm>
            <a:off x="0" y="6675438"/>
            <a:ext cx="9144000" cy="182562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1" descr="Picture 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47013" y="322263"/>
            <a:ext cx="668337" cy="2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1"/>
          <p:cNvSpPr txBox="1"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body" idx="1"/>
          </p:nvPr>
        </p:nvSpPr>
        <p:spPr>
          <a:xfrm>
            <a:off x="628650" y="2693670"/>
            <a:ext cx="7886700" cy="347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2"/>
          <p:cNvSpPr/>
          <p:nvPr/>
        </p:nvSpPr>
        <p:spPr>
          <a:xfrm>
            <a:off x="0" y="6675438"/>
            <a:ext cx="9144000" cy="182562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22" descr="Picture 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47013" y="322263"/>
            <a:ext cx="668337" cy="2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629841" y="1233169"/>
            <a:ext cx="2949178" cy="160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>
            <a:spLocks noGrp="1"/>
          </p:cNvSpPr>
          <p:nvPr>
            <p:ph type="pic" idx="2"/>
          </p:nvPr>
        </p:nvSpPr>
        <p:spPr>
          <a:xfrm>
            <a:off x="3887391" y="1233169"/>
            <a:ext cx="4629151" cy="4873626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22"/>
          <p:cNvSpPr txBox="1">
            <a:spLocks noGrp="1"/>
          </p:cNvSpPr>
          <p:nvPr>
            <p:ph type="body" idx="1"/>
          </p:nvPr>
        </p:nvSpPr>
        <p:spPr>
          <a:xfrm>
            <a:off x="629841" y="2992292"/>
            <a:ext cx="2949178" cy="311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3"/>
          <p:cNvSpPr/>
          <p:nvPr/>
        </p:nvSpPr>
        <p:spPr>
          <a:xfrm>
            <a:off x="0" y="6675438"/>
            <a:ext cx="9144000" cy="182562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23" descr="Picture 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47013" y="322263"/>
            <a:ext cx="668337" cy="2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3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85800" y="-685800"/>
            <a:ext cx="6175375" cy="617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4"/>
          <p:cNvSpPr/>
          <p:nvPr/>
        </p:nvSpPr>
        <p:spPr>
          <a:xfrm>
            <a:off x="0" y="6675438"/>
            <a:ext cx="9144000" cy="182562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24" descr="Picture 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47013" y="322263"/>
            <a:ext cx="668337" cy="269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4"/>
          <p:cNvSpPr txBox="1">
            <a:spLocks noGrp="1"/>
          </p:cNvSpPr>
          <p:nvPr>
            <p:ph type="title"/>
          </p:nvPr>
        </p:nvSpPr>
        <p:spPr>
          <a:xfrm>
            <a:off x="628650" y="123316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1"/>
          </p:nvPr>
        </p:nvSpPr>
        <p:spPr>
          <a:xfrm>
            <a:off x="628650" y="2693670"/>
            <a:ext cx="3886200" cy="347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69B3E7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9"/>
          <p:cNvSpPr/>
          <p:nvPr/>
        </p:nvSpPr>
        <p:spPr>
          <a:xfrm>
            <a:off x="0" y="2651125"/>
            <a:ext cx="9144000" cy="92075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8;p19" descr="Picture 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72150" y="6175375"/>
            <a:ext cx="2743200" cy="2444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9"/>
          <p:cNvSpPr txBox="1">
            <a:spLocks noGrp="1"/>
          </p:cNvSpPr>
          <p:nvPr>
            <p:ph type="title"/>
          </p:nvPr>
        </p:nvSpPr>
        <p:spPr>
          <a:xfrm>
            <a:off x="457200" y="92075"/>
            <a:ext cx="8229600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ldNum" idx="12"/>
          </p:nvPr>
        </p:nvSpPr>
        <p:spPr>
          <a:xfrm>
            <a:off x="4419600" y="6172200"/>
            <a:ext cx="21336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" name="Google Shape;12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6175" y="-228600"/>
            <a:ext cx="3078163" cy="307816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/>
        </p:nvSpPr>
        <p:spPr>
          <a:xfrm>
            <a:off x="561975" y="646113"/>
            <a:ext cx="79025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 Language Recognition Using CNN</a:t>
            </a:r>
            <a:endParaRPr/>
          </a:p>
        </p:txBody>
      </p:sp>
      <p:sp>
        <p:nvSpPr>
          <p:cNvPr id="48" name="Google Shape;48;p1"/>
          <p:cNvSpPr txBox="1"/>
          <p:nvPr/>
        </p:nvSpPr>
        <p:spPr>
          <a:xfrm>
            <a:off x="708025" y="5772150"/>
            <a:ext cx="239212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Michael </a:t>
            </a:r>
            <a:r>
              <a:rPr lang="en-US" sz="14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Tesis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Robert Mullis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lang="en-US" sz="14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5/4/2026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AI700-001_BK_Spring 2026</a:t>
            </a:r>
            <a:endParaRPr dirty="0"/>
          </a:p>
        </p:txBody>
      </p:sp>
      <p:pic>
        <p:nvPicPr>
          <p:cNvPr id="49" name="Google Shape;49;p1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4888" y="3082925"/>
            <a:ext cx="7016750" cy="2455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108887" y="999424"/>
            <a:ext cx="4183978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478345" lvl="0" indent="-478385" algn="l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Title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Outlines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Introduction: Motivation and Problem Definition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Application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Literature Review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Literature Review Results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Algorithm/Approach/Methodology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Dataset Exploration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Model Description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Model Description (Cont.)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Understanding the Functions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Understanding the Functions (Cont.)</a:t>
            </a:r>
            <a:endParaRPr sz="1800" dirty="0"/>
          </a:p>
          <a:p>
            <a:pPr marL="478345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/>
              <a:t>Model </a:t>
            </a:r>
            <a:r>
              <a:rPr lang="en-US" sz="1800" dirty="0" err="1"/>
              <a:t>Hyperparameters</a:t>
            </a:r>
            <a:endParaRPr sz="1800" dirty="0"/>
          </a:p>
          <a:p>
            <a:pPr marL="478346" lvl="0" indent="-478385" algn="l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99951"/>
              <a:buFont typeface="Calibri"/>
              <a:buAutoNum type="arabicPeriod"/>
            </a:pPr>
            <a:r>
              <a:rPr lang="en-US" sz="1800" dirty="0" smtClean="0"/>
              <a:t>Obtained Results (MNIST Model)</a:t>
            </a:r>
          </a:p>
          <a:p>
            <a:pPr marL="478346" indent="-478385">
              <a:lnSpc>
                <a:spcPct val="81000"/>
              </a:lnSpc>
              <a:spcBef>
                <a:spcPts val="900"/>
              </a:spcBef>
              <a:buSzPct val="99951"/>
              <a:buFont typeface="Calibri"/>
              <a:buAutoNum type="arabicPeriod"/>
            </a:pPr>
            <a:r>
              <a:rPr lang="en-US" sz="1800" dirty="0" smtClean="0"/>
              <a:t>Obtained Results (MNIST Model)</a:t>
            </a:r>
          </a:p>
          <a:p>
            <a:pPr marL="478346" indent="-478385">
              <a:lnSpc>
                <a:spcPct val="81000"/>
              </a:lnSpc>
              <a:spcBef>
                <a:spcPts val="900"/>
              </a:spcBef>
              <a:buSzPct val="99951"/>
              <a:buFont typeface="Calibri"/>
              <a:buAutoNum type="arabicPeriod"/>
            </a:pPr>
            <a:r>
              <a:rPr lang="en-US" sz="1800" dirty="0" smtClean="0"/>
              <a:t>Obtained Results (MNIST Model)</a:t>
            </a:r>
            <a:endParaRPr sz="1800" dirty="0" smtClean="0"/>
          </a:p>
        </p:txBody>
      </p:sp>
      <p:sp>
        <p:nvSpPr>
          <p:cNvPr id="55" name="Google Shape;55;p2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OUTLINES</a:t>
            </a:r>
            <a:endParaRPr sz="28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40991" y="1004505"/>
            <a:ext cx="4803009" cy="5955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8345" lvl="0" indent="-478443">
              <a:lnSpc>
                <a:spcPct val="81000"/>
              </a:lnSpc>
              <a:spcBef>
                <a:spcPts val="900"/>
              </a:spcBef>
              <a:buSzPct val="100000"/>
              <a:buFont typeface="+mj-lt"/>
              <a:buAutoNum type="arabicPeriod" startAt="17"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Obtained 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Results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(ASL Alphabet 1000 Images)</a:t>
            </a:r>
          </a:p>
          <a:p>
            <a:pPr marL="478345" indent="-478443">
              <a:lnSpc>
                <a:spcPct val="81000"/>
              </a:lnSpc>
              <a:spcBef>
                <a:spcPts val="900"/>
              </a:spcBef>
              <a:buSzPct val="100000"/>
              <a:buFont typeface="+mj-lt"/>
              <a:buAutoNum type="arabicPeriod" startAt="17"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Obtained Results (ASL Alphabet 1000 Images)</a:t>
            </a:r>
          </a:p>
          <a:p>
            <a:pPr marL="478345" indent="-478443">
              <a:lnSpc>
                <a:spcPct val="81000"/>
              </a:lnSpc>
              <a:spcBef>
                <a:spcPts val="900"/>
              </a:spcBef>
              <a:buSzPct val="100000"/>
              <a:buFont typeface="+mj-lt"/>
              <a:buAutoNum type="arabicPeriod" startAt="17"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Obtained Results (ASL Alphabet 1000 Images)</a:t>
            </a:r>
          </a:p>
          <a:p>
            <a:pPr marL="478345" indent="-478443">
              <a:lnSpc>
                <a:spcPct val="81000"/>
              </a:lnSpc>
              <a:spcBef>
                <a:spcPts val="900"/>
              </a:spcBef>
              <a:buSzPct val="100000"/>
              <a:buFont typeface="+mj-lt"/>
              <a:buAutoNum type="arabicPeriod" startAt="17"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Obtained Results (ASL Alphabet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2000 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Images)</a:t>
            </a:r>
          </a:p>
          <a:p>
            <a:pPr marL="478345" indent="-478443">
              <a:lnSpc>
                <a:spcPct val="81000"/>
              </a:lnSpc>
              <a:spcBef>
                <a:spcPts val="900"/>
              </a:spcBef>
              <a:buSzPct val="100000"/>
              <a:buFont typeface="+mj-lt"/>
              <a:buAutoNum type="arabicPeriod" startAt="17"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Obtained Results (ASL Alphabet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2000 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Images)</a:t>
            </a:r>
          </a:p>
          <a:p>
            <a:pPr marL="478345" indent="-478443">
              <a:lnSpc>
                <a:spcPct val="81000"/>
              </a:lnSpc>
              <a:spcBef>
                <a:spcPts val="900"/>
              </a:spcBef>
              <a:buSzPct val="100000"/>
              <a:buFont typeface="+mj-lt"/>
              <a:buAutoNum type="arabicPeriod" startAt="17"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Obtained Results (ASL Alphabet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2000 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Images)</a:t>
            </a:r>
          </a:p>
          <a:p>
            <a:pPr marL="478345" lvl="0" indent="-478443">
              <a:lnSpc>
                <a:spcPct val="81000"/>
              </a:lnSpc>
              <a:spcBef>
                <a:spcPts val="900"/>
              </a:spcBef>
              <a:buSzPct val="100000"/>
              <a:buFont typeface="+mj-lt"/>
              <a:buAutoNum type="arabicPeriod" startAt="17"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Error Analysis</a:t>
            </a:r>
          </a:p>
          <a:p>
            <a:pPr marL="478345" lvl="0" indent="-478443">
              <a:lnSpc>
                <a:spcPct val="81000"/>
              </a:lnSpc>
              <a:spcBef>
                <a:spcPts val="900"/>
              </a:spcBef>
              <a:buSzPct val="100000"/>
              <a:buFont typeface="+mj-lt"/>
              <a:buAutoNum type="arabicPeriod" startAt="17"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Comparison to Literature</a:t>
            </a:r>
          </a:p>
          <a:p>
            <a:pPr marL="478345" lvl="0" indent="-478443">
              <a:lnSpc>
                <a:spcPct val="81000"/>
              </a:lnSpc>
              <a:spcBef>
                <a:spcPts val="900"/>
              </a:spcBef>
              <a:buSzPct val="100000"/>
              <a:buFont typeface="+mj-lt"/>
              <a:buAutoNum type="arabicPeriod" startAt="17"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Future </a:t>
            </a:r>
            <a:r>
              <a:rPr lang="en-US" sz="1800" dirty="0">
                <a:latin typeface="Calibri" pitchFamily="34" charset="0"/>
                <a:cs typeface="Calibri" pitchFamily="34" charset="0"/>
              </a:rPr>
              <a:t>Work</a:t>
            </a:r>
          </a:p>
          <a:p>
            <a:pPr marL="478345" lvl="0" indent="-478385">
              <a:lnSpc>
                <a:spcPct val="81000"/>
              </a:lnSpc>
              <a:spcBef>
                <a:spcPts val="900"/>
              </a:spcBef>
              <a:buSzPct val="99951"/>
              <a:buFont typeface="Calibri"/>
              <a:buAutoNum type="arabicPeriod" startAt="17"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Conclusion</a:t>
            </a:r>
          </a:p>
          <a:p>
            <a:pPr marL="478345" lvl="0" indent="-478385">
              <a:lnSpc>
                <a:spcPct val="81000"/>
              </a:lnSpc>
              <a:spcBef>
                <a:spcPts val="900"/>
              </a:spcBef>
              <a:buSzPct val="99951"/>
              <a:buFont typeface="Calibri"/>
              <a:buAutoNum type="arabicPeriod" startAt="17"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Contribution</a:t>
            </a:r>
            <a:endParaRPr lang="en-US" sz="1800" dirty="0">
              <a:latin typeface="Calibri" pitchFamily="34" charset="0"/>
              <a:cs typeface="Calibri" pitchFamily="34" charset="0"/>
            </a:endParaRPr>
          </a:p>
          <a:p>
            <a:pPr marL="478345" lvl="0" indent="-478385">
              <a:lnSpc>
                <a:spcPct val="81000"/>
              </a:lnSpc>
              <a:spcBef>
                <a:spcPts val="900"/>
              </a:spcBef>
              <a:buSzPct val="99951"/>
              <a:buFont typeface="Calibri"/>
              <a:buAutoNum type="arabicPeriod" startAt="17"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References </a:t>
            </a:r>
          </a:p>
          <a:p>
            <a:pPr marL="478345" lvl="0" indent="-478385">
              <a:lnSpc>
                <a:spcPct val="81000"/>
              </a:lnSpc>
              <a:spcBef>
                <a:spcPts val="900"/>
              </a:spcBef>
              <a:buSzPct val="99951"/>
              <a:buFont typeface="Calibri"/>
              <a:buAutoNum type="arabicPeriod" startAt="17"/>
            </a:pPr>
            <a:r>
              <a:rPr lang="en-US" sz="1800" dirty="0">
                <a:latin typeface="Calibri" pitchFamily="34" charset="0"/>
                <a:cs typeface="Calibri" pitchFamily="34" charset="0"/>
              </a:rPr>
              <a:t>Questions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>
            <a:spLocks noGrp="1"/>
          </p:cNvSpPr>
          <p:nvPr>
            <p:ph type="body" idx="1"/>
          </p:nvPr>
        </p:nvSpPr>
        <p:spPr>
          <a:xfrm>
            <a:off x="628650" y="1122363"/>
            <a:ext cx="7886700" cy="511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lnSpcReduction="10000"/>
          </a:bodyPr>
          <a:lstStyle/>
          <a:p>
            <a:pPr marL="0" lvl="0" indent="0" algn="just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4"/>
              <a:buFont typeface="Arial"/>
              <a:buNone/>
            </a:pPr>
            <a:r>
              <a:rPr lang="en-US" sz="2574" b="1" dirty="0"/>
              <a:t>Motivation:</a:t>
            </a:r>
            <a:endParaRPr dirty="0"/>
          </a:p>
          <a:p>
            <a:pPr marL="226308" lvl="0" indent="-226308" algn="just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4"/>
              <a:buFont typeface="Arial"/>
              <a:buChar char="•"/>
            </a:pPr>
            <a:r>
              <a:rPr lang="en-US" sz="2574" dirty="0"/>
              <a:t>Create a practical CNN model capable of recognizing images of Sign Language gestures.</a:t>
            </a:r>
            <a:endParaRPr dirty="0"/>
          </a:p>
          <a:p>
            <a:pPr marL="226308" lvl="0" indent="-226308" algn="just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4"/>
              <a:buFont typeface="Arial"/>
              <a:buChar char="•"/>
            </a:pPr>
            <a:r>
              <a:rPr lang="en-US" sz="2574" dirty="0"/>
              <a:t>Learn how to apply fundamental Deep Learning concepts in practice.</a:t>
            </a:r>
            <a:endParaRPr dirty="0"/>
          </a:p>
          <a:p>
            <a:pPr marL="226308" lvl="0" indent="-226308" algn="just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4"/>
              <a:buFont typeface="Arial"/>
              <a:buChar char="•"/>
            </a:pPr>
            <a:r>
              <a:rPr lang="en-US" sz="2574" dirty="0"/>
              <a:t>Make a contribution to the development of SLR.</a:t>
            </a:r>
            <a:endParaRPr dirty="0"/>
          </a:p>
          <a:p>
            <a:pPr marL="226308" lvl="0" indent="-226308" algn="just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4"/>
              <a:buFont typeface="Arial"/>
              <a:buChar char="•"/>
            </a:pPr>
            <a:r>
              <a:rPr lang="en-US" sz="2574" dirty="0"/>
              <a:t>Demonstrate the performance of the chosen algorithm</a:t>
            </a:r>
            <a:r>
              <a:rPr lang="en-US" sz="2574" dirty="0" smtClean="0"/>
              <a:t>.</a:t>
            </a:r>
          </a:p>
          <a:p>
            <a:pPr marL="226308" lvl="0" indent="-226308" algn="just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4"/>
              <a:buFont typeface="Arial"/>
              <a:buChar char="•"/>
            </a:pPr>
            <a:r>
              <a:rPr lang="en-US" sz="2574" dirty="0" smtClean="0"/>
              <a:t>Compare three models that differ by training dataset.</a:t>
            </a:r>
            <a:endParaRPr dirty="0"/>
          </a:p>
          <a:p>
            <a:pPr marL="0" lvl="0" indent="0" algn="just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4"/>
              <a:buFont typeface="Arial"/>
              <a:buNone/>
            </a:pPr>
            <a:endParaRPr sz="2574" dirty="0"/>
          </a:p>
          <a:p>
            <a:pPr marL="0" lvl="0" indent="0" algn="just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4"/>
              <a:buFont typeface="Arial"/>
              <a:buNone/>
            </a:pPr>
            <a:r>
              <a:rPr lang="en-US" sz="2574" b="1" dirty="0"/>
              <a:t>Problem Definition:</a:t>
            </a:r>
            <a:endParaRPr dirty="0"/>
          </a:p>
          <a:p>
            <a:pPr marL="0" lvl="0" indent="0" algn="just" rtl="0">
              <a:lnSpc>
                <a:spcPct val="81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574"/>
              <a:buFont typeface="Arial"/>
              <a:buNone/>
            </a:pPr>
            <a:r>
              <a:rPr lang="en-US" sz="2574" dirty="0"/>
              <a:t>From an image containing a Sign Language gesture, we use Sign Language Recognition CNN model to recognize the gesture and output the corresponding English letter.</a:t>
            </a:r>
            <a:endParaRPr dirty="0"/>
          </a:p>
        </p:txBody>
      </p:sp>
      <p:sp>
        <p:nvSpPr>
          <p:cNvPr id="62" name="Google Shape;62;p3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227013" y="1195388"/>
            <a:ext cx="5249862" cy="541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just" rtl="0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/>
              <a:t>Application for SLR:</a:t>
            </a:r>
            <a:endParaRPr/>
          </a:p>
          <a:p>
            <a:pPr marL="228593" lvl="0" indent="-228593" algn="just" rtl="0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lang="en-US" sz="2500"/>
              <a:t>Bridge communication between people who know Sign Language and those who don’t.</a:t>
            </a:r>
            <a:endParaRPr/>
          </a:p>
          <a:p>
            <a:pPr marL="228593" lvl="0" indent="-228593" algn="just" rtl="0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lang="en-US" sz="2500"/>
              <a:t>Improve communication between people who are hearing impaired.</a:t>
            </a:r>
            <a:endParaRPr/>
          </a:p>
          <a:p>
            <a:pPr marL="228593" lvl="0" indent="-228593" algn="just" rtl="0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lang="en-US" sz="2500"/>
              <a:t>A technology to learn Sign Language and test your knowledge.</a:t>
            </a:r>
            <a:endParaRPr/>
          </a:p>
          <a:p>
            <a:pPr marL="228593" lvl="0" indent="-228593" algn="just" rtl="0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lang="en-US" sz="2500"/>
              <a:t>Enable machines to recognize Sign Language in order to control them using gestures.</a:t>
            </a:r>
            <a:endParaRPr/>
          </a:p>
          <a:p>
            <a:pPr marL="228593" lvl="0" indent="-228593" algn="just" rtl="0">
              <a:lnSpc>
                <a:spcPct val="81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Char char="•"/>
            </a:pPr>
            <a:r>
              <a:rPr lang="en-US" sz="2500"/>
              <a:t>Facilitate communication in loud environments or places where silence is needed.</a:t>
            </a:r>
            <a:endParaRPr/>
          </a:p>
        </p:txBody>
      </p:sp>
      <p:sp>
        <p:nvSpPr>
          <p:cNvPr id="69" name="Google Shape;69;p4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</p:txBody>
      </p:sp>
      <p:pic>
        <p:nvPicPr>
          <p:cNvPr id="71" name="Google Shape;71;p4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1488" y="2190750"/>
            <a:ext cx="3438525" cy="3322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sp>
        <p:nvSpPr>
          <p:cNvPr id="77" name="Google Shape;77;p5"/>
          <p:cNvSpPr txBox="1">
            <a:spLocks noGrp="1"/>
          </p:cNvSpPr>
          <p:nvPr>
            <p:ph type="body" idx="1"/>
          </p:nvPr>
        </p:nvSpPr>
        <p:spPr>
          <a:xfrm>
            <a:off x="628650" y="1058863"/>
            <a:ext cx="8180388" cy="566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dirty="0"/>
              <a:t>	</a:t>
            </a:r>
            <a:endParaRPr dirty="0"/>
          </a:p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en-US" sz="2000" dirty="0"/>
              <a:t>Y. Zhang and X. Jiang in their 2024 paper “Recent Advances on Deep Learning for Sign Language Recognition” </a:t>
            </a:r>
            <a:r>
              <a:rPr lang="en-US" sz="2000" dirty="0" smtClean="0"/>
              <a:t>[7] </a:t>
            </a:r>
            <a:r>
              <a:rPr lang="en-US" sz="2000" dirty="0"/>
              <a:t>present a comprehensive and up-to-date analysis of the advancements, challenges, and opportunities in deep learning-based sign language recognition, focusing on the past five years of research.</a:t>
            </a:r>
            <a:endParaRPr dirty="0"/>
          </a:p>
          <a:p>
            <a:pPr marL="34290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dirty="0"/>
          </a:p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/>
            </a:pPr>
            <a:r>
              <a:rPr lang="en-US" sz="2000" dirty="0"/>
              <a:t> S. K. Hafiz Muhammad, S. D. </a:t>
            </a:r>
            <a:r>
              <a:rPr lang="en-US" sz="2000" dirty="0" err="1"/>
              <a:t>Mcloughlin</a:t>
            </a:r>
            <a:r>
              <a:rPr lang="en-US" sz="2000" dirty="0"/>
              <a:t>, and I. </a:t>
            </a:r>
            <a:r>
              <a:rPr lang="en-US" sz="2000" dirty="0" err="1"/>
              <a:t>Murtagh</a:t>
            </a:r>
            <a:r>
              <a:rPr lang="en-US" sz="2000" dirty="0"/>
              <a:t> in their 2025 paper “Comparative Evaluation and Utilization of Convolutional Neural Network Architectures for Irish Sign Language Recognition” </a:t>
            </a:r>
            <a:r>
              <a:rPr lang="en-US" sz="2000" dirty="0" smtClean="0"/>
              <a:t>[8] </a:t>
            </a:r>
            <a:r>
              <a:rPr lang="en-US" sz="2000" dirty="0"/>
              <a:t>demonstrate innovative technologies that apply SLR in everyday life. Their research evaluates the performance of different deep neural network architectures in the recognition of sign language.</a:t>
            </a:r>
            <a:endParaRPr dirty="0"/>
          </a:p>
          <a:p>
            <a:pPr marL="34290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dirty="0"/>
          </a:p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eriod" startAt="2"/>
            </a:pPr>
            <a:r>
              <a:rPr lang="en-US" sz="2000" dirty="0"/>
              <a:t>H. A. </a:t>
            </a:r>
            <a:r>
              <a:rPr lang="en-US" sz="2000" dirty="0" err="1"/>
              <a:t>Taher</a:t>
            </a:r>
            <a:r>
              <a:rPr lang="en-US" sz="2000" dirty="0"/>
              <a:t> and S. R. M. </a:t>
            </a:r>
            <a:r>
              <a:rPr lang="en-US" sz="2000" dirty="0" err="1"/>
              <a:t>Zeebaree</a:t>
            </a:r>
            <a:r>
              <a:rPr lang="en-US" sz="2000" dirty="0"/>
              <a:t> in their 2025 paper “A Critical Study of Recent Deep Learning-Based Continuous Sign Language Recognition” </a:t>
            </a:r>
            <a:r>
              <a:rPr lang="en-US" sz="2000" dirty="0" smtClean="0"/>
              <a:t>[11] </a:t>
            </a:r>
            <a:r>
              <a:rPr lang="en-US" sz="2000" dirty="0"/>
              <a:t>present a comprehensive  review of SLR, focusing specifically on Deep Learning techniques. The researchers reviewed 32 studies published by major publishers and examined 12 benchmark datasets related to SLR.</a:t>
            </a:r>
            <a:endParaRPr dirty="0"/>
          </a:p>
          <a:p>
            <a:pPr marL="34290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dirty="0"/>
          </a:p>
        </p:txBody>
      </p:sp>
      <p:sp>
        <p:nvSpPr>
          <p:cNvPr id="78" name="Google Shape;78;p5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>
            <a:spLocks noGrp="1"/>
          </p:cNvSpPr>
          <p:nvPr>
            <p:ph type="body" idx="1"/>
          </p:nvPr>
        </p:nvSpPr>
        <p:spPr>
          <a:xfrm>
            <a:off x="628650" y="1357313"/>
            <a:ext cx="7886700" cy="296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just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lang="en-US" sz="2475"/>
              <a:t>Studying the related literature allowed us to:</a:t>
            </a:r>
            <a:endParaRPr/>
          </a:p>
          <a:p>
            <a:pPr marL="226308" lvl="0" indent="-226308" algn="just" rtl="0">
              <a:lnSpc>
                <a:spcPct val="7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Char char="•"/>
            </a:pPr>
            <a:r>
              <a:rPr lang="en-US" sz="2475"/>
              <a:t>Understand concept and inner workings of SLR.</a:t>
            </a:r>
            <a:endParaRPr/>
          </a:p>
          <a:p>
            <a:pPr marL="226308" lvl="0" indent="-226308" algn="just" rtl="0">
              <a:lnSpc>
                <a:spcPct val="7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Char char="•"/>
            </a:pPr>
            <a:r>
              <a:rPr lang="en-US" sz="2475"/>
              <a:t>Learn the architecture of SLR and all of the steps a CNN model would have to perform for SLR.</a:t>
            </a:r>
            <a:endParaRPr/>
          </a:p>
          <a:p>
            <a:pPr marL="226308" lvl="0" indent="-226308" algn="just" rtl="0">
              <a:lnSpc>
                <a:spcPct val="7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Char char="•"/>
            </a:pPr>
            <a:r>
              <a:rPr lang="en-US" sz="2475"/>
              <a:t>Learn different algorithms and techniques that can be used at each step.</a:t>
            </a:r>
            <a:endParaRPr/>
          </a:p>
          <a:p>
            <a:pPr marL="226308" lvl="0" indent="-226308" algn="just" rtl="0">
              <a:lnSpc>
                <a:spcPct val="7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Char char="•"/>
            </a:pPr>
            <a:r>
              <a:rPr lang="en-US" sz="2475"/>
              <a:t>Learn the challenges that SLR faces and possible solutions to them.</a:t>
            </a:r>
            <a:endParaRPr/>
          </a:p>
        </p:txBody>
      </p:sp>
      <p:sp>
        <p:nvSpPr>
          <p:cNvPr id="84" name="Google Shape;84;p6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5" name="Google Shape;85;p6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 RESULTS</a:t>
            </a:r>
            <a:endParaRPr/>
          </a:p>
        </p:txBody>
      </p:sp>
      <p:pic>
        <p:nvPicPr>
          <p:cNvPr id="86" name="Google Shape;86;p6" descr="Picture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5975" y="4319588"/>
            <a:ext cx="5078413" cy="2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>
            <a:spLocks noGrp="1"/>
          </p:cNvSpPr>
          <p:nvPr>
            <p:ph type="body" idx="1"/>
          </p:nvPr>
        </p:nvSpPr>
        <p:spPr>
          <a:xfrm>
            <a:off x="630238" y="1128713"/>
            <a:ext cx="7942262" cy="49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ALGORITHM/APPROACH/METHODOLOGY</a:t>
            </a:r>
            <a:endParaRPr/>
          </a:p>
        </p:txBody>
      </p:sp>
      <p:grpSp>
        <p:nvGrpSpPr>
          <p:cNvPr id="94" name="Google Shape;94;p7"/>
          <p:cNvGrpSpPr/>
          <p:nvPr/>
        </p:nvGrpSpPr>
        <p:grpSpPr>
          <a:xfrm>
            <a:off x="628650" y="1062547"/>
            <a:ext cx="8058150" cy="5128705"/>
            <a:chOff x="0" y="227465"/>
            <a:chExt cx="8058554" cy="5127407"/>
          </a:xfrm>
        </p:grpSpPr>
        <p:grpSp>
          <p:nvGrpSpPr>
            <p:cNvPr id="95" name="Google Shape;95;p7"/>
            <p:cNvGrpSpPr/>
            <p:nvPr/>
          </p:nvGrpSpPr>
          <p:grpSpPr>
            <a:xfrm>
              <a:off x="0" y="4691466"/>
              <a:ext cx="1971379" cy="577294"/>
              <a:chOff x="0" y="0"/>
              <a:chExt cx="1971377" cy="577292"/>
            </a:xfrm>
          </p:grpSpPr>
          <p:sp>
            <p:nvSpPr>
              <p:cNvPr id="96" name="Google Shape;96;p7"/>
              <p:cNvSpPr/>
              <p:nvPr/>
            </p:nvSpPr>
            <p:spPr>
              <a:xfrm>
                <a:off x="0" y="0"/>
                <a:ext cx="1971377" cy="577292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7"/>
              <p:cNvSpPr txBox="1"/>
              <p:nvPr/>
            </p:nvSpPr>
            <p:spPr>
              <a:xfrm>
                <a:off x="0" y="24071"/>
                <a:ext cx="1971377" cy="52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0200" tIns="140200" rIns="140200" bIns="1402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6</a:t>
                </a:r>
                <a:endParaRPr/>
              </a:p>
            </p:txBody>
          </p:sp>
        </p:grpSp>
        <p:grpSp>
          <p:nvGrpSpPr>
            <p:cNvPr id="98" name="Google Shape;98;p7"/>
            <p:cNvGrpSpPr/>
            <p:nvPr/>
          </p:nvGrpSpPr>
          <p:grpSpPr>
            <a:xfrm>
              <a:off x="1971376" y="4605353"/>
              <a:ext cx="5914134" cy="749519"/>
              <a:chOff x="0" y="-1"/>
              <a:chExt cx="5914132" cy="749518"/>
            </a:xfrm>
          </p:grpSpPr>
          <p:sp>
            <p:nvSpPr>
              <p:cNvPr id="99" name="Google Shape;99;p7"/>
              <p:cNvSpPr/>
              <p:nvPr/>
            </p:nvSpPr>
            <p:spPr>
              <a:xfrm>
                <a:off x="0" y="86112"/>
                <a:ext cx="5914132" cy="577293"/>
              </a:xfrm>
              <a:prstGeom prst="rect">
                <a:avLst/>
              </a:prstGeom>
              <a:solidFill>
                <a:srgbClr val="F8D6CC">
                  <a:alpha val="90196"/>
                </a:srgbClr>
              </a:solidFill>
              <a:ln w="12700" cap="flat" cmpd="sng">
                <a:solidFill>
                  <a:srgbClr val="F8D6CC">
                    <a:alpha val="90196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7"/>
              <p:cNvSpPr txBox="1"/>
              <p:nvPr/>
            </p:nvSpPr>
            <p:spPr>
              <a:xfrm>
                <a:off x="0" y="-1"/>
                <a:ext cx="5914131" cy="7495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9950" tIns="119950" rIns="119950" bIns="119950" anchor="ctr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 and tune the parameters of the CNN to achieve the optimal accuracy.</a:t>
                </a:r>
                <a:endParaRPr/>
              </a:p>
            </p:txBody>
          </p:sp>
        </p:grpSp>
        <p:grpSp>
          <p:nvGrpSpPr>
            <p:cNvPr id="101" name="Google Shape;101;p7"/>
            <p:cNvGrpSpPr/>
            <p:nvPr/>
          </p:nvGrpSpPr>
          <p:grpSpPr>
            <a:xfrm>
              <a:off x="0" y="3812210"/>
              <a:ext cx="1971774" cy="887188"/>
              <a:chOff x="0" y="-40"/>
              <a:chExt cx="1971772" cy="887187"/>
            </a:xfrm>
          </p:grpSpPr>
          <p:sp>
            <p:nvSpPr>
              <p:cNvPr id="102" name="Google Shape;102;p7"/>
              <p:cNvSpPr/>
              <p:nvPr/>
            </p:nvSpPr>
            <p:spPr>
              <a:xfrm rot="10800000">
                <a:off x="0" y="-40"/>
                <a:ext cx="1971772" cy="887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7565"/>
                    </a:moveTo>
                    <a:lnTo>
                      <a:pt x="10557" y="7565"/>
                    </a:lnTo>
                    <a:lnTo>
                      <a:pt x="10557" y="3240"/>
                    </a:lnTo>
                    <a:lnTo>
                      <a:pt x="9827" y="3240"/>
                    </a:lnTo>
                    <a:lnTo>
                      <a:pt x="10800" y="0"/>
                    </a:lnTo>
                    <a:lnTo>
                      <a:pt x="11773" y="3240"/>
                    </a:lnTo>
                    <a:lnTo>
                      <a:pt x="11043" y="3240"/>
                    </a:lnTo>
                    <a:lnTo>
                      <a:pt x="11043" y="7565"/>
                    </a:lnTo>
                    <a:lnTo>
                      <a:pt x="21600" y="7565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7"/>
              <p:cNvSpPr txBox="1"/>
              <p:nvPr/>
            </p:nvSpPr>
            <p:spPr>
              <a:xfrm>
                <a:off x="0" y="23984"/>
                <a:ext cx="1971378" cy="529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0200" tIns="140200" rIns="140200" bIns="1402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5</a:t>
                </a:r>
                <a:endParaRPr/>
              </a:p>
            </p:txBody>
          </p:sp>
        </p:grpSp>
        <p:grpSp>
          <p:nvGrpSpPr>
            <p:cNvPr id="104" name="Google Shape;104;p7"/>
            <p:cNvGrpSpPr/>
            <p:nvPr/>
          </p:nvGrpSpPr>
          <p:grpSpPr>
            <a:xfrm>
              <a:off x="1879932" y="3730467"/>
              <a:ext cx="6178622" cy="740685"/>
              <a:chOff x="-91444" y="4416"/>
              <a:chExt cx="6178620" cy="740683"/>
            </a:xfrm>
          </p:grpSpPr>
          <p:sp>
            <p:nvSpPr>
              <p:cNvPr id="105" name="Google Shape;105;p7"/>
              <p:cNvSpPr/>
              <p:nvPr/>
            </p:nvSpPr>
            <p:spPr>
              <a:xfrm>
                <a:off x="0" y="86198"/>
                <a:ext cx="5914132" cy="577120"/>
              </a:xfrm>
              <a:prstGeom prst="rect">
                <a:avLst/>
              </a:prstGeom>
              <a:solidFill>
                <a:srgbClr val="E0E0E0">
                  <a:alpha val="90196"/>
                </a:srgbClr>
              </a:solidFill>
              <a:ln w="12700" cap="flat" cmpd="sng">
                <a:solidFill>
                  <a:srgbClr val="E0E0E0">
                    <a:alpha val="90196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7"/>
              <p:cNvSpPr txBox="1"/>
              <p:nvPr/>
            </p:nvSpPr>
            <p:spPr>
              <a:xfrm>
                <a:off x="-91444" y="4416"/>
                <a:ext cx="6178620" cy="740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9950" tIns="119950" rIns="119950" bIns="119950" anchor="ctr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 i="0" u="none" strike="noStrike" cap="none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Train the Convolution and Fully-connected layers of the model using </a:t>
                </a:r>
                <a:r>
                  <a:rPr lang="en-US" sz="1800" b="0" i="0" u="none" strike="noStrike" cap="none" dirty="0" err="1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backpropagation</a:t>
                </a:r>
                <a:r>
                  <a:rPr lang="en-US" sz="1800" b="0" i="0" u="none" strike="noStrike" cap="none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and </a:t>
                </a:r>
                <a:r>
                  <a:rPr lang="en-US" sz="1800" b="0" i="0" u="none" strike="noStrike" cap="none" dirty="0" smtClean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different datasets.</a:t>
                </a:r>
                <a:endParaRPr dirty="0"/>
              </a:p>
            </p:txBody>
          </p:sp>
        </p:grpSp>
        <p:grpSp>
          <p:nvGrpSpPr>
            <p:cNvPr id="107" name="Google Shape;107;p7"/>
            <p:cNvGrpSpPr/>
            <p:nvPr/>
          </p:nvGrpSpPr>
          <p:grpSpPr>
            <a:xfrm>
              <a:off x="0" y="2932958"/>
              <a:ext cx="1971774" cy="887188"/>
              <a:chOff x="0" y="-76"/>
              <a:chExt cx="1971772" cy="887187"/>
            </a:xfrm>
          </p:grpSpPr>
          <p:sp>
            <p:nvSpPr>
              <p:cNvPr id="108" name="Google Shape;108;p7"/>
              <p:cNvSpPr/>
              <p:nvPr/>
            </p:nvSpPr>
            <p:spPr>
              <a:xfrm rot="10800000">
                <a:off x="0" y="-76"/>
                <a:ext cx="1971772" cy="887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7565"/>
                    </a:moveTo>
                    <a:lnTo>
                      <a:pt x="10557" y="7565"/>
                    </a:lnTo>
                    <a:lnTo>
                      <a:pt x="10557" y="3240"/>
                    </a:lnTo>
                    <a:lnTo>
                      <a:pt x="9827" y="3240"/>
                    </a:lnTo>
                    <a:lnTo>
                      <a:pt x="10800" y="0"/>
                    </a:lnTo>
                    <a:lnTo>
                      <a:pt x="11773" y="3240"/>
                    </a:lnTo>
                    <a:lnTo>
                      <a:pt x="11043" y="3240"/>
                    </a:lnTo>
                    <a:lnTo>
                      <a:pt x="11043" y="7565"/>
                    </a:lnTo>
                    <a:lnTo>
                      <a:pt x="21600" y="7565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7"/>
              <p:cNvSpPr txBox="1"/>
              <p:nvPr/>
            </p:nvSpPr>
            <p:spPr>
              <a:xfrm>
                <a:off x="0" y="23984"/>
                <a:ext cx="1971378" cy="529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0200" tIns="140200" rIns="140200" bIns="1402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4</a:t>
                </a:r>
                <a:endParaRPr/>
              </a:p>
            </p:txBody>
          </p:sp>
        </p:grpSp>
        <p:grpSp>
          <p:nvGrpSpPr>
            <p:cNvPr id="110" name="Google Shape;110;p7"/>
            <p:cNvGrpSpPr/>
            <p:nvPr/>
          </p:nvGrpSpPr>
          <p:grpSpPr>
            <a:xfrm>
              <a:off x="1971376" y="2851252"/>
              <a:ext cx="5914134" cy="740686"/>
              <a:chOff x="0" y="4417"/>
              <a:chExt cx="5914132" cy="740683"/>
            </a:xfrm>
          </p:grpSpPr>
          <p:sp>
            <p:nvSpPr>
              <p:cNvPr id="111" name="Google Shape;111;p7"/>
              <p:cNvSpPr/>
              <p:nvPr/>
            </p:nvSpPr>
            <p:spPr>
              <a:xfrm>
                <a:off x="0" y="86198"/>
                <a:ext cx="5914132" cy="577120"/>
              </a:xfrm>
              <a:prstGeom prst="rect">
                <a:avLst/>
              </a:prstGeom>
              <a:solidFill>
                <a:srgbClr val="FFE8CA">
                  <a:alpha val="90196"/>
                </a:srgbClr>
              </a:solidFill>
              <a:ln w="12700" cap="flat" cmpd="sng">
                <a:solidFill>
                  <a:srgbClr val="FFE8CA">
                    <a:alpha val="90196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7"/>
              <p:cNvSpPr txBox="1"/>
              <p:nvPr/>
            </p:nvSpPr>
            <p:spPr>
              <a:xfrm>
                <a:off x="0" y="4417"/>
                <a:ext cx="5914131" cy="7406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9950" tIns="119950" rIns="119950" bIns="119950" anchor="ctr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Reduce the size of the image during pooling to compress the feature map created during filtering.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p7"/>
            <p:cNvGrpSpPr/>
            <p:nvPr/>
          </p:nvGrpSpPr>
          <p:grpSpPr>
            <a:xfrm>
              <a:off x="0" y="2053705"/>
              <a:ext cx="1971774" cy="888775"/>
              <a:chOff x="0" y="-113"/>
              <a:chExt cx="1971772" cy="888774"/>
            </a:xfrm>
          </p:grpSpPr>
          <p:sp>
            <p:nvSpPr>
              <p:cNvPr id="114" name="Google Shape;114;p7"/>
              <p:cNvSpPr/>
              <p:nvPr/>
            </p:nvSpPr>
            <p:spPr>
              <a:xfrm rot="10800000">
                <a:off x="0" y="-113"/>
                <a:ext cx="1971772" cy="8887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7565"/>
                    </a:moveTo>
                    <a:lnTo>
                      <a:pt x="10557" y="7565"/>
                    </a:lnTo>
                    <a:lnTo>
                      <a:pt x="10557" y="3240"/>
                    </a:lnTo>
                    <a:lnTo>
                      <a:pt x="9827" y="3240"/>
                    </a:lnTo>
                    <a:lnTo>
                      <a:pt x="10800" y="0"/>
                    </a:lnTo>
                    <a:lnTo>
                      <a:pt x="11773" y="3240"/>
                    </a:lnTo>
                    <a:lnTo>
                      <a:pt x="11043" y="3240"/>
                    </a:lnTo>
                    <a:lnTo>
                      <a:pt x="11043" y="7565"/>
                    </a:lnTo>
                    <a:lnTo>
                      <a:pt x="21600" y="7565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7"/>
              <p:cNvSpPr txBox="1"/>
              <p:nvPr/>
            </p:nvSpPr>
            <p:spPr>
              <a:xfrm>
                <a:off x="0" y="23984"/>
                <a:ext cx="1971378" cy="529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0200" tIns="140200" rIns="140200" bIns="1402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3</a:t>
                </a:r>
                <a:endParaRPr/>
              </a:p>
            </p:txBody>
          </p:sp>
        </p:grpSp>
        <p:grpSp>
          <p:nvGrpSpPr>
            <p:cNvPr id="116" name="Google Shape;116;p7"/>
            <p:cNvGrpSpPr/>
            <p:nvPr/>
          </p:nvGrpSpPr>
          <p:grpSpPr>
            <a:xfrm>
              <a:off x="1971375" y="2053818"/>
              <a:ext cx="5914135" cy="577121"/>
              <a:chOff x="-1" y="0"/>
              <a:chExt cx="5914133" cy="577119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-1" y="0"/>
                <a:ext cx="5914133" cy="577119"/>
              </a:xfrm>
              <a:prstGeom prst="rect">
                <a:avLst/>
              </a:prstGeom>
              <a:solidFill>
                <a:srgbClr val="D0DEEF">
                  <a:alpha val="90196"/>
                </a:srgbClr>
              </a:solidFill>
              <a:ln w="12700" cap="flat" cmpd="sng">
                <a:solidFill>
                  <a:srgbClr val="D0DEEF">
                    <a:alpha val="90196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7"/>
              <p:cNvSpPr txBox="1"/>
              <p:nvPr/>
            </p:nvSpPr>
            <p:spPr>
              <a:xfrm>
                <a:off x="0" y="42836"/>
                <a:ext cx="5914131" cy="491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9950" tIns="119950" rIns="119950" bIns="119950" anchor="ctr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Use filters to extract important features out of the images.</a:t>
                </a:r>
                <a:endParaRPr/>
              </a:p>
            </p:txBody>
          </p:sp>
        </p:grpSp>
        <p:grpSp>
          <p:nvGrpSpPr>
            <p:cNvPr id="119" name="Google Shape;119;p7"/>
            <p:cNvGrpSpPr/>
            <p:nvPr/>
          </p:nvGrpSpPr>
          <p:grpSpPr>
            <a:xfrm>
              <a:off x="0" y="1174453"/>
              <a:ext cx="1971774" cy="888775"/>
              <a:chOff x="0" y="-148"/>
              <a:chExt cx="1971772" cy="888774"/>
            </a:xfrm>
          </p:grpSpPr>
          <p:sp>
            <p:nvSpPr>
              <p:cNvPr id="120" name="Google Shape;120;p7"/>
              <p:cNvSpPr/>
              <p:nvPr/>
            </p:nvSpPr>
            <p:spPr>
              <a:xfrm rot="10800000">
                <a:off x="0" y="-148"/>
                <a:ext cx="1971772" cy="8887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7565"/>
                    </a:moveTo>
                    <a:lnTo>
                      <a:pt x="10557" y="7565"/>
                    </a:lnTo>
                    <a:lnTo>
                      <a:pt x="10557" y="3240"/>
                    </a:lnTo>
                    <a:lnTo>
                      <a:pt x="9827" y="3240"/>
                    </a:lnTo>
                    <a:lnTo>
                      <a:pt x="10800" y="0"/>
                    </a:lnTo>
                    <a:lnTo>
                      <a:pt x="11773" y="3240"/>
                    </a:lnTo>
                    <a:lnTo>
                      <a:pt x="11043" y="3240"/>
                    </a:lnTo>
                    <a:lnTo>
                      <a:pt x="11043" y="7565"/>
                    </a:lnTo>
                    <a:lnTo>
                      <a:pt x="21600" y="7565"/>
                    </a:ln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6"/>
              </a:solidFill>
              <a:ln w="12700" cap="flat" cmpd="sng">
                <a:solidFill>
                  <a:schemeClr val="accent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2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7"/>
              <p:cNvSpPr txBox="1"/>
              <p:nvPr/>
            </p:nvSpPr>
            <p:spPr>
              <a:xfrm>
                <a:off x="0" y="23984"/>
                <a:ext cx="1971378" cy="529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0200" tIns="140200" rIns="140200" bIns="1402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2</a:t>
                </a:r>
                <a:endParaRPr/>
              </a:p>
            </p:txBody>
          </p:sp>
        </p:grpSp>
        <p:grpSp>
          <p:nvGrpSpPr>
            <p:cNvPr id="122" name="Google Shape;122;p7"/>
            <p:cNvGrpSpPr/>
            <p:nvPr/>
          </p:nvGrpSpPr>
          <p:grpSpPr>
            <a:xfrm>
              <a:off x="1971376" y="1092820"/>
              <a:ext cx="5914135" cy="740685"/>
              <a:chOff x="0" y="4418"/>
              <a:chExt cx="5914133" cy="740682"/>
            </a:xfrm>
          </p:grpSpPr>
          <p:sp>
            <p:nvSpPr>
              <p:cNvPr id="123" name="Google Shape;123;p7"/>
              <p:cNvSpPr/>
              <p:nvPr/>
            </p:nvSpPr>
            <p:spPr>
              <a:xfrm>
                <a:off x="0" y="86198"/>
                <a:ext cx="5914132" cy="577120"/>
              </a:xfrm>
              <a:prstGeom prst="rect">
                <a:avLst/>
              </a:prstGeom>
              <a:solidFill>
                <a:srgbClr val="D4E2CE">
                  <a:alpha val="90196"/>
                </a:srgbClr>
              </a:solidFill>
              <a:ln w="12700" cap="flat" cmpd="sng">
                <a:solidFill>
                  <a:srgbClr val="D4E2CE">
                    <a:alpha val="90196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7"/>
              <p:cNvSpPr txBox="1"/>
              <p:nvPr/>
            </p:nvSpPr>
            <p:spPr>
              <a:xfrm>
                <a:off x="1" y="4418"/>
                <a:ext cx="5914132" cy="7406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9950" tIns="119950" rIns="119950" bIns="119950" anchor="ctr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Pad the images by adding  pixels around each image in order for the image to retain its size during filtering.</a:t>
                </a: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7"/>
            <p:cNvGrpSpPr/>
            <p:nvPr/>
          </p:nvGrpSpPr>
          <p:grpSpPr>
            <a:xfrm>
              <a:off x="0" y="295384"/>
              <a:ext cx="1971380" cy="887877"/>
              <a:chOff x="0" y="-1"/>
              <a:chExt cx="1971378" cy="887876"/>
            </a:xfrm>
          </p:grpSpPr>
          <p:sp>
            <p:nvSpPr>
              <p:cNvPr id="126" name="Google Shape;126;p7"/>
              <p:cNvSpPr/>
              <p:nvPr/>
            </p:nvSpPr>
            <p:spPr>
              <a:xfrm rot="10800000">
                <a:off x="0" y="-1"/>
                <a:ext cx="1971378" cy="88787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7565"/>
                    </a:moveTo>
                    <a:lnTo>
                      <a:pt x="10557" y="7565"/>
                    </a:lnTo>
                    <a:lnTo>
                      <a:pt x="10557" y="3240"/>
                    </a:lnTo>
                    <a:lnTo>
                      <a:pt x="9827" y="3240"/>
                    </a:lnTo>
                    <a:lnTo>
                      <a:pt x="10800" y="0"/>
                    </a:lnTo>
                    <a:lnTo>
                      <a:pt x="11773" y="3240"/>
                    </a:lnTo>
                    <a:lnTo>
                      <a:pt x="11043" y="3240"/>
                    </a:lnTo>
                    <a:lnTo>
                      <a:pt x="11043" y="7565"/>
                    </a:lnTo>
                    <a:lnTo>
                      <a:pt x="21600" y="7565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7565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7"/>
              <p:cNvSpPr txBox="1"/>
              <p:nvPr/>
            </p:nvSpPr>
            <p:spPr>
              <a:xfrm>
                <a:off x="0" y="23984"/>
                <a:ext cx="1971378" cy="5291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0200" tIns="140200" rIns="140200" bIns="1402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u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Step 1</a:t>
                </a:r>
                <a:endParaRPr/>
              </a:p>
            </p:txBody>
          </p:sp>
        </p:grpSp>
        <p:grpSp>
          <p:nvGrpSpPr>
            <p:cNvPr id="128" name="Google Shape;128;p7"/>
            <p:cNvGrpSpPr/>
            <p:nvPr/>
          </p:nvGrpSpPr>
          <p:grpSpPr>
            <a:xfrm>
              <a:off x="1971376" y="227465"/>
              <a:ext cx="6087178" cy="712960"/>
              <a:chOff x="0" y="227465"/>
              <a:chExt cx="6087176" cy="712959"/>
            </a:xfrm>
          </p:grpSpPr>
          <p:sp>
            <p:nvSpPr>
              <p:cNvPr id="129" name="Google Shape;129;p7"/>
              <p:cNvSpPr/>
              <p:nvPr/>
            </p:nvSpPr>
            <p:spPr>
              <a:xfrm>
                <a:off x="0" y="295385"/>
                <a:ext cx="5914132" cy="577120"/>
              </a:xfrm>
              <a:prstGeom prst="rect">
                <a:avLst/>
              </a:prstGeom>
              <a:solidFill>
                <a:srgbClr val="F8D6CC">
                  <a:alpha val="90196"/>
                </a:srgbClr>
              </a:solidFill>
              <a:ln w="12700" cap="flat" cmpd="sng">
                <a:solidFill>
                  <a:srgbClr val="F8D6CC">
                    <a:alpha val="90196"/>
                  </a:srgbClr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7"/>
              <p:cNvSpPr txBox="1"/>
              <p:nvPr/>
            </p:nvSpPr>
            <p:spPr>
              <a:xfrm>
                <a:off x="0" y="227465"/>
                <a:ext cx="6087176" cy="7129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9950" tIns="119950" rIns="119950" bIns="119950" anchor="ctr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00" b="0" u="none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Preprocess images before the Input </a:t>
                </a:r>
                <a:r>
                  <a:rPr lang="en-US" sz="1700" b="0" u="none" dirty="0" smtClean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layer by convertin</a:t>
                </a:r>
                <a:r>
                  <a:rPr lang="en-US" sz="1700" dirty="0" smtClean="0">
                    <a:latin typeface="Calibri"/>
                    <a:ea typeface="Calibri"/>
                    <a:cs typeface="Calibri"/>
                    <a:sym typeface="Calibri"/>
                  </a:rPr>
                  <a:t>g to the format of the training dataset</a:t>
                </a:r>
                <a:r>
                  <a:rPr lang="en-US" sz="1700" b="0" u="none" dirty="0" smtClean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1700" b="0" u="none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>
            <a:spLocks noGrp="1"/>
          </p:cNvSpPr>
          <p:nvPr>
            <p:ph type="body" idx="1"/>
          </p:nvPr>
        </p:nvSpPr>
        <p:spPr>
          <a:xfrm>
            <a:off x="152400" y="1066800"/>
            <a:ext cx="8763000" cy="555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92500" lnSpcReduction="10000"/>
          </a:bodyPr>
          <a:lstStyle/>
          <a:p>
            <a:pPr marL="0" lvl="0" indent="0" algn="just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dirty="0"/>
              <a:t>We studied the datasets that were used in the papers that we studied in the Literature Review. Below are the papers and the corresponding datasets used in each paper:</a:t>
            </a:r>
            <a:endParaRPr dirty="0"/>
          </a:p>
          <a:p>
            <a:pPr marL="0" lvl="0" indent="0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dirty="0"/>
          </a:p>
          <a:p>
            <a:pPr marL="0" lvl="0" indent="0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dirty="0"/>
              <a:t>Paper: </a:t>
            </a:r>
            <a:r>
              <a:rPr lang="en-US" sz="1900" dirty="0"/>
              <a:t>“Comparative Evaluation and Utilization of Convolutional Neural Network Architectures for Irish Sign Language Recognition” (Muhammad et al., 2025) </a:t>
            </a:r>
            <a:endParaRPr sz="1900" dirty="0"/>
          </a:p>
          <a:p>
            <a:pPr marL="0" lvl="0" indent="0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dirty="0"/>
              <a:t>Dataset: </a:t>
            </a:r>
            <a:r>
              <a:rPr lang="en-US" sz="1900" dirty="0"/>
              <a:t>Marlon Oliveira's et al. Irish Sign Language hand-shape dataset (ISL-HS) (Oliveira et al., 2017)</a:t>
            </a:r>
            <a:endParaRPr sz="1900" dirty="0"/>
          </a:p>
          <a:p>
            <a:pPr marL="0" lvl="1" indent="557008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dirty="0"/>
          </a:p>
          <a:p>
            <a:pPr marL="0" lvl="0" indent="0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dirty="0"/>
              <a:t>Paper: </a:t>
            </a:r>
            <a:r>
              <a:rPr lang="en-US" sz="1900" dirty="0"/>
              <a:t>“A Critical Study of Recent Deep Learning-Based Continuous Sign Language Recognition” (</a:t>
            </a:r>
            <a:r>
              <a:rPr lang="en-US" sz="1900" dirty="0" err="1"/>
              <a:t>Taher</a:t>
            </a:r>
            <a:r>
              <a:rPr lang="en-US" sz="1900" dirty="0"/>
              <a:t> et al., 2025)</a:t>
            </a:r>
            <a:endParaRPr sz="1900" dirty="0"/>
          </a:p>
          <a:p>
            <a:pPr marL="0" lvl="0" indent="0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dirty="0"/>
              <a:t>Dataset: </a:t>
            </a:r>
            <a:r>
              <a:rPr lang="en-US" sz="1900" dirty="0"/>
              <a:t>Publicly accessible CSLR benchmark datasets </a:t>
            </a:r>
            <a:r>
              <a:rPr lang="en-US" sz="1900" dirty="0" err="1"/>
              <a:t>eg</a:t>
            </a:r>
            <a:r>
              <a:rPr lang="en-US" sz="1900" dirty="0"/>
              <a:t>. RVL-SLLL (</a:t>
            </a:r>
            <a:r>
              <a:rPr lang="en-US" sz="1900" dirty="0" err="1"/>
              <a:t>Martínez</a:t>
            </a:r>
            <a:r>
              <a:rPr lang="en-US" sz="1900" dirty="0"/>
              <a:t> et al., 2002)</a:t>
            </a:r>
            <a:endParaRPr sz="1900" dirty="0"/>
          </a:p>
          <a:p>
            <a:pPr marL="0" lvl="1" indent="557008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dirty="0"/>
              <a:t> </a:t>
            </a:r>
            <a:endParaRPr sz="1900" dirty="0"/>
          </a:p>
          <a:p>
            <a:pPr marL="0" lvl="0" indent="0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 b="1" dirty="0"/>
              <a:t>Paper: </a:t>
            </a:r>
            <a:r>
              <a:rPr lang="en-US" sz="1900" dirty="0"/>
              <a:t>“Recent Advances on Deep Learning for Sign Language Recognition” (Zhang et al., 2024)</a:t>
            </a:r>
            <a:endParaRPr sz="1900" dirty="0"/>
          </a:p>
          <a:p>
            <a:pPr marL="0" lvl="0" indent="0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</a:pPr>
            <a:r>
              <a:rPr lang="en-US" sz="1900" b="1" dirty="0"/>
              <a:t>Datasets: </a:t>
            </a:r>
            <a:endParaRPr dirty="0"/>
          </a:p>
          <a:p>
            <a:pPr marL="722313" lvl="1" indent="-274193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 dirty="0"/>
              <a:t>Oscar, K. (2019). Papers with code—MS-ASL dataset. </a:t>
            </a:r>
            <a:endParaRPr sz="1900" dirty="0"/>
          </a:p>
          <a:p>
            <a:pPr marL="722313" lvl="1" indent="-274193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 dirty="0"/>
              <a:t>Sridhar, A., </a:t>
            </a:r>
            <a:r>
              <a:rPr lang="en-US" sz="1900" dirty="0" err="1"/>
              <a:t>Ganesan</a:t>
            </a:r>
            <a:r>
              <a:rPr lang="en-US" sz="1900" dirty="0"/>
              <a:t>, R. G., Kumar, P., </a:t>
            </a:r>
            <a:r>
              <a:rPr lang="en-US" sz="1900" dirty="0" err="1"/>
              <a:t>Khapra</a:t>
            </a:r>
            <a:r>
              <a:rPr lang="en-US" sz="1900" dirty="0"/>
              <a:t>, M. (2020). INCLUDE: A Large Scale Dataset for Indian Sign Language Recognition.</a:t>
            </a:r>
            <a:endParaRPr dirty="0"/>
          </a:p>
          <a:p>
            <a:pPr marL="722313" lvl="1" indent="-274193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 dirty="0" err="1"/>
              <a:t>Dongxu</a:t>
            </a:r>
            <a:r>
              <a:rPr lang="en-US" sz="1900" dirty="0"/>
              <a:t> (2023). WLASL: A large-scale dataset for Word-Level American sign language. </a:t>
            </a:r>
            <a:endParaRPr dirty="0"/>
          </a:p>
          <a:p>
            <a:pPr marL="457200" lvl="1" indent="0" algn="just" rtl="0">
              <a:lnSpc>
                <a:spcPct val="72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</a:pPr>
            <a:endParaRPr sz="1900" dirty="0"/>
          </a:p>
          <a:p>
            <a:pPr marL="0" lvl="1" indent="0" algn="just">
              <a:lnSpc>
                <a:spcPct val="72000"/>
              </a:lnSpc>
              <a:spcBef>
                <a:spcPts val="800"/>
              </a:spcBef>
              <a:buSzPts val="1900"/>
              <a:buNone/>
            </a:pPr>
            <a:r>
              <a:rPr lang="en-US" sz="1900" dirty="0"/>
              <a:t>For our </a:t>
            </a:r>
            <a:r>
              <a:rPr lang="en-US" sz="1900" dirty="0" smtClean="0"/>
              <a:t>three models </a:t>
            </a:r>
            <a:r>
              <a:rPr lang="en-US" sz="1900" dirty="0"/>
              <a:t>we utilize the MNIST Sign Language Dataset [</a:t>
            </a:r>
            <a:r>
              <a:rPr lang="en-US" sz="1900" dirty="0" smtClean="0"/>
              <a:t>1] and ASL Alphabet Dataset [2] as training datasets </a:t>
            </a:r>
            <a:r>
              <a:rPr lang="en-US" sz="1900" dirty="0"/>
              <a:t>and ASL-HG: American Sign Language Hand Gesture Image </a:t>
            </a:r>
            <a:r>
              <a:rPr lang="en-US" sz="1900" dirty="0" smtClean="0"/>
              <a:t>Dataset [3] as the testing dataset. </a:t>
            </a:r>
            <a:endParaRPr sz="1720" dirty="0"/>
          </a:p>
        </p:txBody>
      </p:sp>
      <p:sp>
        <p:nvSpPr>
          <p:cNvPr id="136" name="Google Shape;136;p8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7" name="Google Shape;137;p8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EXPLORATION</a:t>
            </a:r>
            <a:endParaRPr sz="2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>
            <a:spLocks noGrp="1"/>
          </p:cNvSpPr>
          <p:nvPr>
            <p:ph type="body" idx="1"/>
          </p:nvPr>
        </p:nvSpPr>
        <p:spPr>
          <a:xfrm>
            <a:off x="152400" y="990601"/>
            <a:ext cx="8915400" cy="4099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85750" marR="0" lvl="0" indent="-2857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input layer to our model contains a number of nodes that correspond to the number of pixels in the input image.</a:t>
            </a:r>
            <a:endParaRPr dirty="0"/>
          </a:p>
          <a:p>
            <a:pPr marL="285750" marR="0" lvl="0" indent="-2857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the input layer the data feeds into the convolutional layer where feature extraction from the image occurs using padding, filtering, and pooling.</a:t>
            </a:r>
            <a:endParaRPr dirty="0"/>
          </a:p>
          <a:p>
            <a:pPr marL="285750" marR="0" lvl="0" indent="-2857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our model we 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four static filters and </a:t>
            </a:r>
            <a:r>
              <a:rPr lang="en-US" sz="1800" dirty="0" smtClean="0"/>
              <a:t>three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sets of 3x3 dynamic filters. 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static filters are Gaussian, </a:t>
            </a:r>
            <a:r>
              <a:rPr lang="en-US" sz="1800" b="0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Sobel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X, </a:t>
            </a:r>
            <a:r>
              <a:rPr lang="en-US" sz="1800" b="0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Sobel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Y, and </a:t>
            </a:r>
            <a:r>
              <a:rPr lang="en-US" sz="1800" b="0" i="0" u="none" strike="noStrike" cap="none" dirty="0" err="1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Laplacian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The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dynamic set contains 32 filters. The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set </a:t>
            </a:r>
            <a:r>
              <a:rPr lang="en-US" sz="1800" dirty="0" smtClean="0"/>
              <a:t>contains 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64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filters </a:t>
            </a:r>
            <a:r>
              <a:rPr lang="en-US" sz="1800" dirty="0" smtClean="0"/>
              <a:t>and the third contains 128 filters.</a:t>
            </a:r>
            <a:endParaRPr dirty="0" smtClean="0"/>
          </a:p>
          <a:p>
            <a:pPr marL="285750" marR="0" lvl="0" indent="-2857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result of the filtering is a feature map and the computation itself uses dot multiplication shown by formula (1).</a:t>
            </a:r>
            <a:endParaRPr dirty="0" smtClean="0"/>
          </a:p>
          <a:p>
            <a:pPr marL="285750" marR="0" lvl="0" indent="-2857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smtClea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ReLU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activation function described by formula (2) is applied to the feature map in order to add non-linearity to the features learned.</a:t>
            </a:r>
            <a:endParaRPr dirty="0"/>
          </a:p>
          <a:p>
            <a:pPr marL="285750" marR="0" lvl="0" indent="-2857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 in pooling we use the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MaxPooling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function that builds a new compressed feature map by selecting a pixel with the largest value inside each area that it slides over.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44" name="Google Shape;144;p9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DESCRIPTION</a:t>
            </a:r>
            <a:endParaRPr sz="2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9" descr="Picture 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2600" y="4952996"/>
            <a:ext cx="2490787" cy="170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9" descr="Picture 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952996"/>
            <a:ext cx="4495800" cy="1699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>
            <a:spLocks noGrp="1"/>
          </p:cNvSpPr>
          <p:nvPr>
            <p:ph type="body" idx="1"/>
          </p:nvPr>
        </p:nvSpPr>
        <p:spPr>
          <a:xfrm>
            <a:off x="38100" y="908936"/>
            <a:ext cx="8915400" cy="440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85750" marR="0" lvl="0" indent="-2857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From the convolutional layer the data is passed to the fully connected layer. </a:t>
            </a:r>
            <a:endParaRPr sz="1800" b="0" i="0" u="none" strike="noStrike" cap="none" dirty="0">
              <a:solidFill>
                <a:srgbClr val="000000"/>
              </a:solidFill>
              <a:sym typeface="Calibri"/>
            </a:endParaRPr>
          </a:p>
          <a:p>
            <a:pPr marL="285750" marR="0" lvl="0" indent="-2857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We use </a:t>
            </a:r>
            <a:r>
              <a:rPr lang="en-US" sz="1800" dirty="0" smtClean="0"/>
              <a:t>two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sym typeface="Calibri"/>
              </a:rPr>
              <a:t> </a:t>
            </a: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hidden 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sym typeface="Calibri"/>
              </a:rPr>
              <a:t>layers </a:t>
            </a: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containing 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sym typeface="Calibri"/>
              </a:rPr>
              <a:t>256 and 128 </a:t>
            </a: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neurons that are all connected to every input and every output.</a:t>
            </a:r>
            <a:endParaRPr sz="1800" dirty="0"/>
          </a:p>
          <a:p>
            <a:pPr marL="285750" marR="0" lvl="0" indent="-2857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Each neuron takes the 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sym typeface="Calibri"/>
              </a:rPr>
              <a:t>input </a:t>
            </a: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as a vector, computes the result using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sym typeface="Calibri"/>
              </a:rPr>
              <a:t>ReLU</a:t>
            </a: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 activation function described by formula (2), and sends it to every neuron in the output layer. </a:t>
            </a:r>
            <a:endParaRPr sz="1800" b="0" i="0" u="none" strike="noStrike" cap="none" dirty="0">
              <a:solidFill>
                <a:srgbClr val="000000"/>
              </a:solidFill>
              <a:sym typeface="Calibri"/>
            </a:endParaRPr>
          </a:p>
          <a:p>
            <a:pPr marL="285750" marR="0" lvl="0" indent="-2857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The resulting output is a vector obtained using the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sym typeface="Calibri"/>
              </a:rPr>
              <a:t>Softmax</a:t>
            </a: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 activation function described by formula (3).</a:t>
            </a:r>
            <a:endParaRPr sz="1800" b="0" i="0" u="none" strike="noStrike" cap="none" dirty="0">
              <a:solidFill>
                <a:srgbClr val="000000"/>
              </a:solidFill>
              <a:sym typeface="Calibri"/>
            </a:endParaRPr>
          </a:p>
          <a:p>
            <a:pPr marL="285750" marR="0" lvl="0" indent="-2857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The model goes through training that obtains optimal values for weights and biases through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sym typeface="Calibri"/>
              </a:rPr>
              <a:t>backpropagation</a:t>
            </a: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.</a:t>
            </a:r>
            <a:endParaRPr sz="1800" dirty="0"/>
          </a:p>
          <a:p>
            <a:pPr marL="285750" marR="0" lvl="0" indent="-2857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For efficiency, our model processes input images as batches of 64 at the same time in parallel. </a:t>
            </a:r>
            <a:endParaRPr sz="1800" dirty="0"/>
          </a:p>
          <a:p>
            <a:pPr marL="285750" marR="0" lvl="0" indent="-2857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smtClean="0">
                <a:solidFill>
                  <a:srgbClr val="000000"/>
                </a:solidFill>
                <a:sym typeface="Calibri"/>
              </a:rPr>
              <a:t>After training our </a:t>
            </a: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model </a:t>
            </a:r>
            <a:r>
              <a:rPr lang="en-US" sz="1800" dirty="0" smtClean="0"/>
              <a:t>go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sym typeface="Calibri"/>
              </a:rPr>
              <a:t>es through the validation </a:t>
            </a: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phase that predicts the classes of images in the </a:t>
            </a:r>
            <a:r>
              <a:rPr lang="en-US" sz="1800" dirty="0" smtClean="0"/>
              <a:t>validation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sym typeface="Calibri"/>
              </a:rPr>
              <a:t> </a:t>
            </a:r>
            <a:r>
              <a:rPr lang="en-US" sz="1800" b="0" i="0" u="none" strike="noStrike" cap="none" dirty="0">
                <a:solidFill>
                  <a:srgbClr val="000000"/>
                </a:solidFill>
                <a:sym typeface="Calibri"/>
              </a:rPr>
              <a:t>dataset. The predictions are compared to the image labels to calculate the accuracy</a:t>
            </a:r>
            <a:r>
              <a:rPr lang="en-US" sz="1800" b="0" i="0" u="none" strike="noStrike" cap="none" dirty="0" smtClean="0">
                <a:solidFill>
                  <a:srgbClr val="000000"/>
                </a:solidFill>
                <a:sym typeface="Calibri"/>
              </a:rPr>
              <a:t>.</a:t>
            </a:r>
          </a:p>
          <a:p>
            <a:pPr marL="285750" marR="0" lvl="0" indent="-28575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 smtClean="0">
                <a:solidFill>
                  <a:srgbClr val="000000"/>
                </a:solidFill>
                <a:sym typeface="Calibri"/>
              </a:rPr>
              <a:t>Finally, model testing on another dataset is performed.</a:t>
            </a:r>
            <a:endParaRPr sz="1800" b="0" i="0" u="none" strike="noStrike" cap="none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152" name="Google Shape;152;p10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DESCRIPTION (CONT.)</a:t>
            </a:r>
            <a:endParaRPr sz="2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0" descr="Neural Networks Backpropagation Made Easy | Towards Data Sci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8150" y="5200232"/>
            <a:ext cx="5410200" cy="1446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>
            <a:spLocks noGrp="1"/>
          </p:cNvSpPr>
          <p:nvPr>
            <p:ph type="body" idx="1"/>
          </p:nvPr>
        </p:nvSpPr>
        <p:spPr>
          <a:xfrm>
            <a:off x="152400" y="990600"/>
            <a:ext cx="6248400" cy="563721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561" t="-1082" r="-195"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THE FUNCTIONS</a:t>
            </a:r>
            <a:endParaRPr/>
          </a:p>
        </p:txBody>
      </p:sp>
      <p:pic>
        <p:nvPicPr>
          <p:cNvPr id="162" name="Google Shape;162;p11" descr="Picture 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8106" y="1524000"/>
            <a:ext cx="2532062" cy="195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1" descr="Understanding the Softmax Activation Function: A Comprehensive Guid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5494" y="4267198"/>
            <a:ext cx="2815371" cy="1715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>
            <a:spLocks noGrp="1"/>
          </p:cNvSpPr>
          <p:nvPr>
            <p:ph type="body" idx="1"/>
          </p:nvPr>
        </p:nvSpPr>
        <p:spPr>
          <a:xfrm>
            <a:off x="76200" y="609600"/>
            <a:ext cx="8915400" cy="4038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58" b="-10860"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169" name="Google Shape;169;p12"/>
          <p:cNvSpPr txBox="1">
            <a:spLocks noGrp="1"/>
          </p:cNvSpPr>
          <p:nvPr>
            <p:ph type="sldNum" idx="12"/>
          </p:nvPr>
        </p:nvSpPr>
        <p:spPr>
          <a:xfrm>
            <a:off x="8334375" y="6415088"/>
            <a:ext cx="180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0" name="Google Shape;170;p12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THE FUNCTIONS (CONT.)</a:t>
            </a:r>
            <a:endParaRPr sz="2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2" descr="A basic explanation how the gradient descent is determined during  back-propagation | by Anass El Fares | Mediu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1200" y="4495800"/>
            <a:ext cx="498475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>
            <a:spLocks noGrp="1"/>
          </p:cNvSpPr>
          <p:nvPr>
            <p:ph type="body" idx="1"/>
          </p:nvPr>
        </p:nvSpPr>
        <p:spPr>
          <a:xfrm>
            <a:off x="104274" y="990601"/>
            <a:ext cx="5719010" cy="5621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285750" marR="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Calibri"/>
              </a:rPr>
              <a:t>Our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sym typeface="Calibri"/>
              </a:rPr>
              <a:t>hyperparameters</a:t>
            </a:r>
            <a:r>
              <a:rPr lang="en-US" sz="2000" b="0" i="0" u="none" strike="noStrike" cap="none" dirty="0">
                <a:solidFill>
                  <a:srgbClr val="000000"/>
                </a:solidFill>
                <a:sym typeface="Calibri"/>
              </a:rPr>
              <a:t> have the following fixed values:</a:t>
            </a:r>
            <a:endParaRPr sz="2000" dirty="0"/>
          </a:p>
          <a:p>
            <a:pPr marL="285750" lvl="1" indent="-285750">
              <a:buSzPts val="2400"/>
              <a:buFont typeface="Arial"/>
              <a:buChar char="•"/>
            </a:pPr>
            <a:r>
              <a:rPr lang="en-US" sz="2000" dirty="0"/>
              <a:t>number of neurons in the </a:t>
            </a:r>
            <a:r>
              <a:rPr lang="en-US" sz="2000" dirty="0" smtClean="0"/>
              <a:t>first hidden </a:t>
            </a:r>
            <a:r>
              <a:rPr lang="en-US" sz="2000" dirty="0"/>
              <a:t>layer = </a:t>
            </a:r>
            <a:r>
              <a:rPr lang="en-US" sz="2000" dirty="0" smtClean="0"/>
              <a:t>256</a:t>
            </a:r>
            <a:endParaRPr lang="en-US" sz="2000" b="0" i="0" u="none" strike="noStrike" cap="none" dirty="0" smtClean="0">
              <a:solidFill>
                <a:srgbClr val="000000"/>
              </a:solidFill>
              <a:sym typeface="Calibri"/>
            </a:endParaRPr>
          </a:p>
          <a:p>
            <a:pPr marL="2857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 smtClean="0">
                <a:solidFill>
                  <a:srgbClr val="000000"/>
                </a:solidFill>
                <a:sym typeface="Calibri"/>
              </a:rPr>
              <a:t>number </a:t>
            </a:r>
            <a:r>
              <a:rPr lang="en-US" sz="2000" b="0" i="0" u="none" strike="noStrike" cap="none" dirty="0">
                <a:solidFill>
                  <a:srgbClr val="000000"/>
                </a:solidFill>
                <a:sym typeface="Calibri"/>
              </a:rPr>
              <a:t>of neurons in the </a:t>
            </a:r>
            <a:r>
              <a:rPr lang="en-US" sz="2000" b="0" i="0" u="none" strike="noStrike" cap="none" dirty="0" smtClean="0">
                <a:solidFill>
                  <a:srgbClr val="000000"/>
                </a:solidFill>
                <a:sym typeface="Calibri"/>
              </a:rPr>
              <a:t>second hidden </a:t>
            </a:r>
            <a:r>
              <a:rPr lang="en-US" sz="2000" b="0" i="0" u="none" strike="noStrike" cap="none" dirty="0">
                <a:solidFill>
                  <a:srgbClr val="000000"/>
                </a:solidFill>
                <a:sym typeface="Calibri"/>
              </a:rPr>
              <a:t>layer = 128</a:t>
            </a:r>
            <a:endParaRPr sz="2000" dirty="0"/>
          </a:p>
          <a:p>
            <a:pPr marL="2857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Calibri"/>
              </a:rPr>
              <a:t>number of epochs = 15</a:t>
            </a:r>
            <a:endParaRPr sz="2000" dirty="0"/>
          </a:p>
          <a:p>
            <a:pPr marL="2857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Calibri"/>
              </a:rPr>
              <a:t> learning rate = 0.001</a:t>
            </a:r>
            <a:endParaRPr sz="2000" dirty="0"/>
          </a:p>
          <a:p>
            <a:pPr marL="2857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Calibri"/>
              </a:rPr>
              <a:t> batch size = 64</a:t>
            </a:r>
            <a:endParaRPr sz="2000" dirty="0"/>
          </a:p>
          <a:p>
            <a:pPr marL="2857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 smtClean="0">
                <a:solidFill>
                  <a:srgbClr val="000000"/>
                </a:solidFill>
                <a:sym typeface="Calibri"/>
              </a:rPr>
              <a:t>number </a:t>
            </a:r>
            <a:r>
              <a:rPr lang="en-US" sz="2000" b="0" i="0" u="none" strike="noStrike" cap="none" dirty="0">
                <a:solidFill>
                  <a:srgbClr val="000000"/>
                </a:solidFill>
                <a:sym typeface="Calibri"/>
              </a:rPr>
              <a:t>of filters in the first dynamic convolutional layer = 32, </a:t>
            </a:r>
            <a:endParaRPr sz="2000" b="0" i="0" u="none" strike="noStrike" cap="none" dirty="0">
              <a:solidFill>
                <a:srgbClr val="000000"/>
              </a:solidFill>
              <a:sym typeface="Calibri"/>
            </a:endParaRPr>
          </a:p>
          <a:p>
            <a:pPr marL="285750" marR="0" lvl="1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sym typeface="Calibri"/>
              </a:rPr>
              <a:t>number of filters in the second dynamic convolutional layer = 64</a:t>
            </a:r>
            <a:r>
              <a:rPr lang="en-US" sz="2000" b="0" i="0" u="none" strike="noStrike" cap="none" dirty="0" smtClean="0">
                <a:solidFill>
                  <a:srgbClr val="000000"/>
                </a:solidFill>
                <a:sym typeface="Calibri"/>
              </a:rPr>
              <a:t>.</a:t>
            </a:r>
          </a:p>
          <a:p>
            <a:pPr marL="285750" lvl="1" indent="-285750">
              <a:buSzPts val="2400"/>
              <a:buFont typeface="Arial"/>
              <a:buChar char="•"/>
            </a:pPr>
            <a:r>
              <a:rPr lang="en-US" sz="2000" dirty="0" smtClean="0"/>
              <a:t>number </a:t>
            </a:r>
            <a:r>
              <a:rPr lang="en-US" sz="2000" dirty="0"/>
              <a:t>of filters in the second dynamic convolutional layer = </a:t>
            </a:r>
            <a:r>
              <a:rPr lang="en-US" sz="2000" dirty="0" smtClean="0"/>
              <a:t>128.</a:t>
            </a:r>
            <a:r>
              <a:rPr lang="en-US" sz="2000" b="0" i="0" u="none" strike="noStrike" cap="none" dirty="0" smtClean="0">
                <a:solidFill>
                  <a:srgbClr val="000000"/>
                </a:solidFill>
                <a:sym typeface="Calibri"/>
              </a:rPr>
              <a:t> </a:t>
            </a:r>
            <a:r>
              <a:rPr lang="en-US" sz="2000" b="0" i="0" u="none" strike="noStrike" cap="none" dirty="0">
                <a:solidFill>
                  <a:srgbClr val="000000"/>
                </a:solidFill>
                <a:sym typeface="Calibri"/>
              </a:rPr>
              <a:t>	</a:t>
            </a:r>
            <a:endParaRPr sz="2000" b="0" i="0" u="none" strike="noStrike" cap="none" dirty="0">
              <a:solidFill>
                <a:srgbClr val="000000"/>
              </a:solidFill>
              <a:sym typeface="Calibri"/>
            </a:endParaRPr>
          </a:p>
        </p:txBody>
      </p:sp>
      <p:sp>
        <p:nvSpPr>
          <p:cNvPr id="177" name="Google Shape;177;p13"/>
          <p:cNvSpPr txBox="1">
            <a:spLocks noGrp="1"/>
          </p:cNvSpPr>
          <p:nvPr>
            <p:ph type="sldNum" idx="12"/>
          </p:nvPr>
        </p:nvSpPr>
        <p:spPr>
          <a:xfrm>
            <a:off x="8334375" y="6400434"/>
            <a:ext cx="48236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dirty="0"/>
          </a:p>
        </p:txBody>
      </p:sp>
      <p:sp>
        <p:nvSpPr>
          <p:cNvPr id="178" name="Google Shape;178;p13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HYPERPARAMETERS</a:t>
            </a:r>
            <a:endParaRPr sz="2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3" descr="A Comprehensive Guide to Hyperparameter Tuning in Machine Learning | by  Aditi Babu | Mediu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46282" y="2002055"/>
            <a:ext cx="3273892" cy="2481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OBTAINED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(MNIST MODEL)</a:t>
            </a:r>
            <a:endParaRPr dirty="0"/>
          </a:p>
        </p:txBody>
      </p:sp>
      <p:sp>
        <p:nvSpPr>
          <p:cNvPr id="185" name="Google Shape;185;p14"/>
          <p:cNvSpPr txBox="1">
            <a:spLocks noGrp="1"/>
          </p:cNvSpPr>
          <p:nvPr>
            <p:ph type="body" idx="1"/>
          </p:nvPr>
        </p:nvSpPr>
        <p:spPr>
          <a:xfrm>
            <a:off x="1844986" y="901700"/>
            <a:ext cx="6028479" cy="213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just" rtl="0">
              <a:lnSpc>
                <a:spcPct val="7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</a:pPr>
            <a:r>
              <a:rPr lang="en-US" sz="1900" dirty="0" smtClean="0"/>
              <a:t>After </a:t>
            </a:r>
            <a:r>
              <a:rPr lang="en-US" sz="1900" dirty="0"/>
              <a:t>15 iterations the final results are the following: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/>
              <a:t>Training accuracy = </a:t>
            </a:r>
            <a:r>
              <a:rPr lang="en-US" sz="1900" dirty="0" smtClean="0"/>
              <a:t>0.9926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/>
              <a:t>Training loss = </a:t>
            </a:r>
            <a:r>
              <a:rPr lang="en-US" sz="1900" dirty="0" smtClean="0"/>
              <a:t>0.0249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 smtClean="0"/>
              <a:t>Validation</a:t>
            </a:r>
            <a:r>
              <a:rPr lang="en-US" sz="1900" dirty="0" smtClean="0"/>
              <a:t> </a:t>
            </a:r>
            <a:r>
              <a:rPr lang="en-US" sz="1900" dirty="0"/>
              <a:t>accuracy = </a:t>
            </a:r>
            <a:r>
              <a:rPr lang="en-US" sz="1900" dirty="0" smtClean="0"/>
              <a:t>0.9856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 smtClean="0"/>
              <a:t>Validation</a:t>
            </a:r>
            <a:r>
              <a:rPr lang="en-US" sz="1900" dirty="0" smtClean="0"/>
              <a:t> </a:t>
            </a:r>
            <a:r>
              <a:rPr lang="en-US" sz="1900" dirty="0"/>
              <a:t>loss = </a:t>
            </a:r>
            <a:r>
              <a:rPr lang="en-US" sz="1900" dirty="0" smtClean="0"/>
              <a:t>0.0459</a:t>
            </a:r>
            <a:endParaRPr lang="en-US" sz="1900" dirty="0" smtClean="0"/>
          </a:p>
          <a:p>
            <a:pPr marL="722313" lvl="1" indent="-265113" algn="just" rtl="0">
              <a:lnSpc>
                <a:spcPct val="7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 dirty="0" smtClean="0"/>
              <a:t>Testing accuracy = 29.2%</a:t>
            </a:r>
            <a:endParaRPr sz="1900"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8" y="3159489"/>
            <a:ext cx="4383843" cy="328788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903" y="3159489"/>
            <a:ext cx="4383842" cy="32878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674688" y="30163"/>
            <a:ext cx="6977396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OBTAINED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(MNIST MODEL)</a:t>
            </a:r>
            <a:endParaRPr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1" r="17360"/>
          <a:stretch/>
        </p:blipFill>
        <p:spPr>
          <a:xfrm>
            <a:off x="0" y="1029903"/>
            <a:ext cx="4687503" cy="47728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3" r="17306"/>
          <a:stretch/>
        </p:blipFill>
        <p:spPr>
          <a:xfrm>
            <a:off x="4600876" y="1029904"/>
            <a:ext cx="4523676" cy="477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27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674688" y="30163"/>
            <a:ext cx="8045800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OBTAINED RESULTS (MNIST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MODEL)</a:t>
            </a:r>
            <a:endParaRPr lang="en-US" sz="2800" dirty="0"/>
          </a:p>
        </p:txBody>
      </p:sp>
      <p:sp>
        <p:nvSpPr>
          <p:cNvPr id="185" name="Google Shape;185;p14"/>
          <p:cNvSpPr txBox="1">
            <a:spLocks noGrp="1"/>
          </p:cNvSpPr>
          <p:nvPr>
            <p:ph type="body" idx="1"/>
          </p:nvPr>
        </p:nvSpPr>
        <p:spPr>
          <a:xfrm>
            <a:off x="65664" y="987926"/>
            <a:ext cx="8568197" cy="44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just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</a:pPr>
            <a:r>
              <a:rPr lang="en-US" sz="1900" dirty="0" smtClean="0"/>
              <a:t>The features extracted by the filters shown on the feature map and </a:t>
            </a:r>
            <a:r>
              <a:rPr lang="en-US" sz="1900" dirty="0" err="1" smtClean="0"/>
              <a:t>GradCam</a:t>
            </a:r>
            <a:r>
              <a:rPr lang="en-US" sz="1900" dirty="0" smtClean="0"/>
              <a:t>:</a:t>
            </a:r>
            <a:endParaRPr sz="1900"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3690"/>
            <a:ext cx="9144000" cy="1828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63" t="3789" r="2056" b="63789"/>
          <a:stretch/>
        </p:blipFill>
        <p:spPr>
          <a:xfrm>
            <a:off x="636185" y="3306473"/>
            <a:ext cx="2425567" cy="2773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6185" y="6181133"/>
            <a:ext cx="2613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First Dynamic Convolutional Layer</a:t>
            </a:r>
            <a:endParaRPr lang="en-US" sz="1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02" t="4491" r="1158" b="64070"/>
          <a:stretch/>
        </p:blipFill>
        <p:spPr>
          <a:xfrm>
            <a:off x="3254871" y="3325722"/>
            <a:ext cx="2634257" cy="27591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49275" y="6181132"/>
            <a:ext cx="27398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Second </a:t>
            </a:r>
            <a:r>
              <a:rPr lang="en-US" sz="1200" dirty="0"/>
              <a:t>Dynamic Convolutional Layer</a:t>
            </a:r>
            <a:endParaRPr lang="en-US" sz="1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51" t="3228" r="1158" b="64070"/>
          <a:stretch/>
        </p:blipFill>
        <p:spPr>
          <a:xfrm>
            <a:off x="5977292" y="3205213"/>
            <a:ext cx="2516070" cy="28796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94724" y="6181131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Third Dynamic Convolutional </a:t>
            </a:r>
            <a:r>
              <a:rPr lang="en-US" sz="1200" dirty="0"/>
              <a:t>Layer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68944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86628" y="30163"/>
            <a:ext cx="850873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OBTAINED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(ASL ALPHABET 1000 IMAGES)</a:t>
            </a:r>
            <a:endParaRPr dirty="0"/>
          </a:p>
        </p:txBody>
      </p:sp>
      <p:sp>
        <p:nvSpPr>
          <p:cNvPr id="185" name="Google Shape;185;p14"/>
          <p:cNvSpPr txBox="1">
            <a:spLocks noGrp="1"/>
          </p:cNvSpPr>
          <p:nvPr>
            <p:ph type="body" idx="1"/>
          </p:nvPr>
        </p:nvSpPr>
        <p:spPr>
          <a:xfrm>
            <a:off x="1844986" y="901700"/>
            <a:ext cx="6028479" cy="213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just" rtl="0">
              <a:lnSpc>
                <a:spcPct val="7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</a:pPr>
            <a:r>
              <a:rPr lang="en-US" sz="1900" dirty="0" smtClean="0"/>
              <a:t>After </a:t>
            </a:r>
            <a:r>
              <a:rPr lang="en-US" sz="1900" dirty="0"/>
              <a:t>15 iterations the final results are the following: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/>
              <a:t>Training accuracy = </a:t>
            </a:r>
            <a:r>
              <a:rPr lang="en-US" sz="1900" dirty="0" smtClean="0"/>
              <a:t>0.8644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/>
              <a:t>Training loss = </a:t>
            </a:r>
            <a:r>
              <a:rPr lang="en-US" sz="1900" dirty="0" smtClean="0"/>
              <a:t>0.4079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 smtClean="0"/>
              <a:t>Validation</a:t>
            </a:r>
            <a:r>
              <a:rPr lang="en-US" sz="1900" dirty="0" smtClean="0"/>
              <a:t> </a:t>
            </a:r>
            <a:r>
              <a:rPr lang="en-US" sz="1900" dirty="0"/>
              <a:t>accuracy = </a:t>
            </a:r>
            <a:r>
              <a:rPr lang="en-US" sz="1900" dirty="0" smtClean="0"/>
              <a:t>0.9617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 smtClean="0"/>
              <a:t>Validation</a:t>
            </a:r>
            <a:r>
              <a:rPr lang="en-US" sz="1900" dirty="0" smtClean="0"/>
              <a:t> </a:t>
            </a:r>
            <a:r>
              <a:rPr lang="en-US" sz="1900" dirty="0"/>
              <a:t>loss = </a:t>
            </a:r>
            <a:r>
              <a:rPr lang="en-US" sz="1900" dirty="0" smtClean="0"/>
              <a:t>0.1503</a:t>
            </a:r>
            <a:endParaRPr lang="en-US" sz="1900" dirty="0" smtClean="0"/>
          </a:p>
          <a:p>
            <a:pPr marL="722313" lvl="1" indent="-265113" algn="just" rtl="0">
              <a:lnSpc>
                <a:spcPct val="7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 dirty="0" smtClean="0"/>
              <a:t>Testing accuracy = 29.2%</a:t>
            </a:r>
            <a:endParaRPr sz="1900"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7" name="Picture 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7" t="5799" r="7356" b="2031"/>
          <a:stretch/>
        </p:blipFill>
        <p:spPr bwMode="auto">
          <a:xfrm>
            <a:off x="203061" y="3159489"/>
            <a:ext cx="4383842" cy="32878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2" t="4774" r="5286" b="2048"/>
          <a:stretch/>
        </p:blipFill>
        <p:spPr bwMode="auto">
          <a:xfrm>
            <a:off x="4586903" y="3159489"/>
            <a:ext cx="4383842" cy="32878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02261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77200" y="30163"/>
            <a:ext cx="7574884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OBTAINED 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(ASL ALPHABET 1000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IMAGES)</a:t>
            </a:r>
            <a:endParaRPr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7" name="Picture 6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1" r="17549" b="1917"/>
          <a:stretch/>
        </p:blipFill>
        <p:spPr bwMode="auto">
          <a:xfrm>
            <a:off x="77200" y="1029904"/>
            <a:ext cx="4523676" cy="47728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r="17074" b="1449"/>
          <a:stretch/>
        </p:blipFill>
        <p:spPr bwMode="auto">
          <a:xfrm>
            <a:off x="4620324" y="1029904"/>
            <a:ext cx="4523676" cy="48511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49614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0" y="30163"/>
            <a:ext cx="8045800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OBTAINED RESULTS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ASL ALPHABET 1000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IMAGES)</a:t>
            </a:r>
            <a:endParaRPr lang="en-US" sz="2800" dirty="0"/>
          </a:p>
        </p:txBody>
      </p:sp>
      <p:sp>
        <p:nvSpPr>
          <p:cNvPr id="185" name="Google Shape;185;p14"/>
          <p:cNvSpPr txBox="1">
            <a:spLocks noGrp="1"/>
          </p:cNvSpPr>
          <p:nvPr>
            <p:ph type="body" idx="1"/>
          </p:nvPr>
        </p:nvSpPr>
        <p:spPr>
          <a:xfrm>
            <a:off x="65664" y="987926"/>
            <a:ext cx="8568197" cy="44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just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</a:pPr>
            <a:r>
              <a:rPr lang="en-US" sz="1900" dirty="0" smtClean="0"/>
              <a:t>The features extracted by the filters shown on the feature map and </a:t>
            </a:r>
            <a:r>
              <a:rPr lang="en-US" sz="1900" dirty="0" err="1" smtClean="0"/>
              <a:t>GradCam</a:t>
            </a:r>
            <a:r>
              <a:rPr lang="en-US" sz="1900" dirty="0" smtClean="0"/>
              <a:t>:</a:t>
            </a:r>
            <a:endParaRPr sz="1900"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9072" y="6181128"/>
            <a:ext cx="2613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First Dynamic Convolutional Layer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3202072" y="6181129"/>
            <a:ext cx="27398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Second </a:t>
            </a:r>
            <a:r>
              <a:rPr lang="en-US" sz="1200" dirty="0"/>
              <a:t>Dynamic Convolutional Layer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5994724" y="6181131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Third Dynamic Convolutional </a:t>
            </a:r>
            <a:r>
              <a:rPr lang="en-US" sz="1200" dirty="0"/>
              <a:t>Layer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4065"/>
            <a:ext cx="9144000" cy="1828800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89" t="4095" r="51662" b="63823"/>
          <a:stretch/>
        </p:blipFill>
        <p:spPr bwMode="auto">
          <a:xfrm>
            <a:off x="674688" y="3301460"/>
            <a:ext cx="2422028" cy="28796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34" t="3754" r="51662" b="63822"/>
          <a:stretch/>
        </p:blipFill>
        <p:spPr bwMode="auto">
          <a:xfrm>
            <a:off x="3409915" y="3301458"/>
            <a:ext cx="2324169" cy="28796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33" t="3755" r="51365" b="63822"/>
          <a:stretch/>
        </p:blipFill>
        <p:spPr bwMode="auto">
          <a:xfrm>
            <a:off x="6109669" y="3301460"/>
            <a:ext cx="2340044" cy="28796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8939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86628" y="30163"/>
            <a:ext cx="850873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OBTAINED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(ASL ALPHABET 2000 IMAGES)</a:t>
            </a:r>
            <a:endParaRPr dirty="0"/>
          </a:p>
        </p:txBody>
      </p:sp>
      <p:sp>
        <p:nvSpPr>
          <p:cNvPr id="185" name="Google Shape;185;p14"/>
          <p:cNvSpPr txBox="1">
            <a:spLocks noGrp="1"/>
          </p:cNvSpPr>
          <p:nvPr>
            <p:ph type="body" idx="1"/>
          </p:nvPr>
        </p:nvSpPr>
        <p:spPr>
          <a:xfrm>
            <a:off x="1844986" y="901700"/>
            <a:ext cx="6028479" cy="213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just" rtl="0">
              <a:lnSpc>
                <a:spcPct val="7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</a:pPr>
            <a:r>
              <a:rPr lang="en-US" sz="1900" dirty="0" smtClean="0"/>
              <a:t>After </a:t>
            </a:r>
            <a:r>
              <a:rPr lang="en-US" sz="1900" dirty="0"/>
              <a:t>15 iterations the final results are the following: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/>
              <a:t>Training accuracy = </a:t>
            </a:r>
            <a:r>
              <a:rPr lang="en-US" sz="1900" dirty="0" smtClean="0"/>
              <a:t>0.9288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/>
              <a:t>Training loss = </a:t>
            </a:r>
            <a:r>
              <a:rPr lang="en-US" sz="1900" dirty="0" smtClean="0"/>
              <a:t>0.2246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 smtClean="0"/>
              <a:t>Validation</a:t>
            </a:r>
            <a:r>
              <a:rPr lang="en-US" sz="1900" dirty="0" smtClean="0"/>
              <a:t> </a:t>
            </a:r>
            <a:r>
              <a:rPr lang="en-US" sz="1900" dirty="0"/>
              <a:t>accuracy = </a:t>
            </a:r>
            <a:r>
              <a:rPr lang="en-US" sz="1900" dirty="0" smtClean="0"/>
              <a:t>0.9763</a:t>
            </a:r>
            <a:endParaRPr dirty="0"/>
          </a:p>
          <a:p>
            <a:pPr marL="722313" lvl="1" indent="-265113" algn="just">
              <a:lnSpc>
                <a:spcPct val="72000"/>
              </a:lnSpc>
              <a:buSzPts val="1900"/>
            </a:pPr>
            <a:r>
              <a:rPr lang="en-US" sz="1900" dirty="0" smtClean="0"/>
              <a:t>Validation</a:t>
            </a:r>
            <a:r>
              <a:rPr lang="en-US" sz="1900" dirty="0" smtClean="0"/>
              <a:t> </a:t>
            </a:r>
            <a:r>
              <a:rPr lang="en-US" sz="1900" dirty="0"/>
              <a:t>loss = </a:t>
            </a:r>
            <a:r>
              <a:rPr lang="en-US" sz="1900" dirty="0" smtClean="0"/>
              <a:t>0.0855</a:t>
            </a:r>
            <a:endParaRPr lang="en-US" sz="1900" dirty="0" smtClean="0"/>
          </a:p>
          <a:p>
            <a:pPr marL="722313" lvl="1" indent="-265113" algn="just" rtl="0">
              <a:lnSpc>
                <a:spcPct val="72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Char char="•"/>
            </a:pPr>
            <a:r>
              <a:rPr lang="en-US" sz="1900" dirty="0" smtClean="0"/>
              <a:t>Testing accuracy = 20.8%</a:t>
            </a:r>
            <a:endParaRPr sz="1900"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9" name="Picture 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" t="5460" r="7162" b="630"/>
          <a:stretch/>
        </p:blipFill>
        <p:spPr bwMode="auto">
          <a:xfrm>
            <a:off x="203061" y="3159489"/>
            <a:ext cx="4383842" cy="32878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" t="5120" r="6650" b="1706"/>
          <a:stretch/>
        </p:blipFill>
        <p:spPr bwMode="auto">
          <a:xfrm>
            <a:off x="4586903" y="3159489"/>
            <a:ext cx="4383842" cy="32878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83572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77200" y="30163"/>
            <a:ext cx="7574884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OBTAINED 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(ASL ALPHABET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2000 IMAGES)</a:t>
            </a:r>
            <a:endParaRPr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6" name="Picture 5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7" r="17465"/>
          <a:stretch/>
        </p:blipFill>
        <p:spPr bwMode="auto">
          <a:xfrm>
            <a:off x="77200" y="901700"/>
            <a:ext cx="4523676" cy="49793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r="16987"/>
          <a:stretch/>
        </p:blipFill>
        <p:spPr bwMode="auto">
          <a:xfrm>
            <a:off x="4620324" y="901700"/>
            <a:ext cx="4523676" cy="49793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18606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105879" y="30163"/>
            <a:ext cx="7883090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OBTAINED RESULTS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ASL ALPHABET 2000 </a:t>
            </a: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IMAGES)</a:t>
            </a:r>
            <a:endParaRPr lang="en-US" sz="2800" dirty="0"/>
          </a:p>
        </p:txBody>
      </p:sp>
      <p:sp>
        <p:nvSpPr>
          <p:cNvPr id="185" name="Google Shape;185;p14"/>
          <p:cNvSpPr txBox="1">
            <a:spLocks noGrp="1"/>
          </p:cNvSpPr>
          <p:nvPr>
            <p:ph type="body" idx="1"/>
          </p:nvPr>
        </p:nvSpPr>
        <p:spPr>
          <a:xfrm>
            <a:off x="65664" y="987926"/>
            <a:ext cx="8568197" cy="44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just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None/>
            </a:pPr>
            <a:r>
              <a:rPr lang="en-US" sz="1900" dirty="0" smtClean="0"/>
              <a:t>The features extracted by the filters shown on the feature map and </a:t>
            </a:r>
            <a:r>
              <a:rPr lang="en-US" sz="1900" dirty="0" err="1" smtClean="0"/>
              <a:t>GradCam</a:t>
            </a:r>
            <a:r>
              <a:rPr lang="en-US" sz="1900" dirty="0" smtClean="0"/>
              <a:t>:</a:t>
            </a:r>
            <a:endParaRPr sz="1900"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9072" y="6181128"/>
            <a:ext cx="2613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First Dynamic Convolutional Layer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3202072" y="6181129"/>
            <a:ext cx="27398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Second </a:t>
            </a:r>
            <a:r>
              <a:rPr lang="en-US" sz="1200" dirty="0"/>
              <a:t>Dynamic Convolutional Layer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5994724" y="6181131"/>
            <a:ext cx="25699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Third Dynamic Convolutional </a:t>
            </a:r>
            <a:r>
              <a:rPr lang="en-US" sz="1200" dirty="0"/>
              <a:t>Layer</a:t>
            </a:r>
            <a:endParaRPr lang="en-US" sz="1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1066"/>
            <a:ext cx="9144000" cy="1828800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9" t="3754" r="1771" b="64164"/>
          <a:stretch/>
        </p:blipFill>
        <p:spPr bwMode="auto">
          <a:xfrm>
            <a:off x="631807" y="3301460"/>
            <a:ext cx="2507788" cy="28796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/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71" t="3755" r="2284" b="64163"/>
          <a:stretch/>
        </p:blipFill>
        <p:spPr bwMode="auto">
          <a:xfrm>
            <a:off x="3291736" y="3301460"/>
            <a:ext cx="2560523" cy="28796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Picture 17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15" t="3755" r="1771" b="64163"/>
          <a:stretch/>
        </p:blipFill>
        <p:spPr bwMode="auto">
          <a:xfrm>
            <a:off x="6025797" y="3301460"/>
            <a:ext cx="2507788" cy="28796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12878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616018" y="30163"/>
            <a:ext cx="4119611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sz="2800" b="1" dirty="0" smtClean="0">
                <a:solidFill>
                  <a:srgbClr val="FFFFFF"/>
                </a:solidFill>
                <a:latin typeface="Calibri"/>
                <a:cs typeface="Calibri"/>
                <a:sym typeface="Calibri"/>
              </a:rPr>
              <a:t>ERROR ANALYSIS</a:t>
            </a:r>
            <a:endParaRPr lang="en-US" sz="2800" dirty="0"/>
          </a:p>
        </p:txBody>
      </p:sp>
      <p:sp>
        <p:nvSpPr>
          <p:cNvPr id="185" name="Google Shape;185;p14"/>
          <p:cNvSpPr txBox="1">
            <a:spLocks noGrp="1"/>
          </p:cNvSpPr>
          <p:nvPr>
            <p:ph type="body" idx="1"/>
          </p:nvPr>
        </p:nvSpPr>
        <p:spPr>
          <a:xfrm>
            <a:off x="94539" y="997550"/>
            <a:ext cx="8933958" cy="572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just">
              <a:lnSpc>
                <a:spcPct val="72000"/>
              </a:lnSpc>
              <a:buSzPts val="1900"/>
              <a:buNone/>
            </a:pPr>
            <a:r>
              <a:rPr lang="en-US" sz="2200" dirty="0" smtClean="0"/>
              <a:t>Comparison of the three models:</a:t>
            </a:r>
          </a:p>
          <a:p>
            <a:pPr marL="0" lvl="0" indent="0" algn="just">
              <a:lnSpc>
                <a:spcPct val="72000"/>
              </a:lnSpc>
              <a:buSzPts val="1900"/>
              <a:buNone/>
            </a:pPr>
            <a:endParaRPr lang="en-US" sz="2200" dirty="0"/>
          </a:p>
          <a:p>
            <a:pPr marL="342900" algn="just">
              <a:lnSpc>
                <a:spcPct val="72000"/>
              </a:lnSpc>
              <a:buSzPts val="1900"/>
            </a:pPr>
            <a:r>
              <a:rPr lang="en-US" sz="2200" dirty="0" smtClean="0"/>
              <a:t>All three models perform great in training and validation phases with accuracies ranging from 96% to 99%.</a:t>
            </a:r>
          </a:p>
          <a:p>
            <a:pPr marL="342900" algn="just">
              <a:lnSpc>
                <a:spcPct val="72000"/>
              </a:lnSpc>
              <a:buSzPts val="1900"/>
            </a:pPr>
            <a:r>
              <a:rPr lang="en-US" sz="2200" dirty="0" smtClean="0"/>
              <a:t>All three models show a poor performance during testing phase due to model </a:t>
            </a:r>
            <a:r>
              <a:rPr lang="en-US" sz="2200" dirty="0" err="1" smtClean="0"/>
              <a:t>overfitting</a:t>
            </a:r>
            <a:r>
              <a:rPr lang="en-US" sz="2200" dirty="0" smtClean="0"/>
              <a:t> on small training datasets.</a:t>
            </a:r>
          </a:p>
          <a:p>
            <a:pPr marL="342900" algn="just">
              <a:lnSpc>
                <a:spcPct val="72000"/>
              </a:lnSpc>
              <a:buSzPts val="1900"/>
            </a:pPr>
            <a:r>
              <a:rPr lang="en-US" sz="2200" dirty="0" smtClean="0"/>
              <a:t>As the size of the dataset increases, the </a:t>
            </a:r>
            <a:r>
              <a:rPr lang="en-US" sz="2200" dirty="0" err="1" smtClean="0"/>
              <a:t>overfitting</a:t>
            </a:r>
            <a:r>
              <a:rPr lang="en-US" sz="2200" dirty="0" smtClean="0"/>
              <a:t> increases. This results </a:t>
            </a:r>
            <a:r>
              <a:rPr lang="en-US" sz="2200" dirty="0"/>
              <a:t>in ASL </a:t>
            </a:r>
            <a:r>
              <a:rPr lang="en-US" sz="2200" dirty="0" smtClean="0"/>
              <a:t>Alphabet </a:t>
            </a:r>
            <a:r>
              <a:rPr lang="en-US" sz="2200" dirty="0"/>
              <a:t>2000 </a:t>
            </a:r>
            <a:r>
              <a:rPr lang="en-US" sz="2200" dirty="0" smtClean="0"/>
              <a:t>Images model showing an even worse performance during testing than the MNIST and </a:t>
            </a:r>
            <a:r>
              <a:rPr lang="en-US" sz="2200" dirty="0"/>
              <a:t>ASL Alphabet </a:t>
            </a:r>
            <a:r>
              <a:rPr lang="en-US" sz="2200" dirty="0" smtClean="0"/>
              <a:t>1000 </a:t>
            </a:r>
            <a:r>
              <a:rPr lang="en-US" sz="2200" dirty="0"/>
              <a:t>Images </a:t>
            </a:r>
            <a:r>
              <a:rPr lang="en-US" sz="2200" dirty="0" smtClean="0"/>
              <a:t>models.</a:t>
            </a:r>
          </a:p>
          <a:p>
            <a:pPr marL="342900" algn="just">
              <a:lnSpc>
                <a:spcPct val="72000"/>
              </a:lnSpc>
              <a:buSzPts val="1900"/>
            </a:pPr>
            <a:r>
              <a:rPr lang="en-US" sz="2200" dirty="0" smtClean="0"/>
              <a:t>The </a:t>
            </a:r>
            <a:r>
              <a:rPr lang="en-US" sz="2200" dirty="0"/>
              <a:t>reliance on background information </a:t>
            </a:r>
            <a:r>
              <a:rPr lang="en-US" sz="2200" dirty="0" smtClean="0"/>
              <a:t>leading </a:t>
            </a:r>
            <a:r>
              <a:rPr lang="en-US" sz="2200" dirty="0"/>
              <a:t>to poor performance on unseen </a:t>
            </a:r>
            <a:r>
              <a:rPr lang="en-US" sz="2200" dirty="0" smtClean="0"/>
              <a:t>images was supported by </a:t>
            </a:r>
            <a:r>
              <a:rPr lang="en-US" sz="2200" dirty="0" err="1" smtClean="0"/>
              <a:t>GradCam</a:t>
            </a:r>
            <a:r>
              <a:rPr lang="en-US" sz="2200" dirty="0" smtClean="0"/>
              <a:t> visualizations that showed objects other than the hand being highlighted.</a:t>
            </a:r>
          </a:p>
          <a:p>
            <a:pPr marL="342900" algn="just">
              <a:lnSpc>
                <a:spcPct val="72000"/>
              </a:lnSpc>
              <a:buSzPts val="1900"/>
            </a:pPr>
            <a:r>
              <a:rPr lang="en-US" sz="2200" dirty="0" smtClean="0"/>
              <a:t>It </a:t>
            </a:r>
            <a:r>
              <a:rPr lang="en-US" sz="2200" dirty="0"/>
              <a:t>is expected that a much larger and more diverse dataset (8,000–10,000 images per class) would improve generalization</a:t>
            </a:r>
            <a:r>
              <a:rPr lang="en-US" sz="2200" dirty="0" smtClean="0"/>
              <a:t>.</a:t>
            </a:r>
          </a:p>
          <a:p>
            <a:pPr marL="342900" algn="just">
              <a:lnSpc>
                <a:spcPct val="72000"/>
              </a:lnSpc>
              <a:buSzPts val="1900"/>
            </a:pPr>
            <a:r>
              <a:rPr lang="en-US" sz="2200" dirty="0"/>
              <a:t>Further testing was limited by memory constraints on available hardware.</a:t>
            </a:r>
            <a:endParaRPr lang="en-US" sz="2200" dirty="0" smtClean="0"/>
          </a:p>
          <a:p>
            <a:pPr marL="0" indent="0" algn="just">
              <a:lnSpc>
                <a:spcPct val="72000"/>
              </a:lnSpc>
              <a:spcBef>
                <a:spcPts val="0"/>
              </a:spcBef>
              <a:buSzPts val="1900"/>
              <a:buNone/>
            </a:pPr>
            <a:endParaRPr lang="en-US" sz="2000" dirty="0"/>
          </a:p>
          <a:p>
            <a:pPr marL="0" lvl="0" indent="0" algn="just">
              <a:lnSpc>
                <a:spcPct val="72000"/>
              </a:lnSpc>
              <a:spcBef>
                <a:spcPts val="0"/>
              </a:spcBef>
              <a:buSzPts val="1900"/>
              <a:buNone/>
            </a:pPr>
            <a:endParaRPr sz="1900" dirty="0"/>
          </a:p>
        </p:txBody>
      </p:sp>
      <p:sp>
        <p:nvSpPr>
          <p:cNvPr id="186" name="Google Shape;186;p14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1001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4dbceaba0_0_5"/>
          <p:cNvSpPr txBox="1"/>
          <p:nvPr/>
        </p:nvSpPr>
        <p:spPr>
          <a:xfrm>
            <a:off x="674688" y="30163"/>
            <a:ext cx="64437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 TO LITERATURE</a:t>
            </a:r>
            <a:endParaRPr/>
          </a:p>
        </p:txBody>
      </p:sp>
      <p:sp>
        <p:nvSpPr>
          <p:cNvPr id="195" name="Google Shape;195;g3d4dbceaba0_0_5"/>
          <p:cNvSpPr txBox="1">
            <a:spLocks noGrp="1"/>
          </p:cNvSpPr>
          <p:nvPr>
            <p:ph type="body" idx="1"/>
          </p:nvPr>
        </p:nvSpPr>
        <p:spPr>
          <a:xfrm>
            <a:off x="76201" y="939800"/>
            <a:ext cx="8979900" cy="564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92500"/>
          </a:bodyPr>
          <a:lstStyle/>
          <a:p>
            <a:pPr marL="457200" lvl="0" indent="-36195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</a:rPr>
              <a:t>Models like “</a:t>
            </a:r>
            <a:r>
              <a:rPr lang="en-US" sz="2100" dirty="0" err="1">
                <a:solidFill>
                  <a:schemeClr val="dk1"/>
                </a:solidFill>
              </a:rPr>
              <a:t>AlexNet</a:t>
            </a:r>
            <a:r>
              <a:rPr lang="en-US" sz="2100" dirty="0">
                <a:solidFill>
                  <a:schemeClr val="dk1"/>
                </a:solidFill>
              </a:rPr>
              <a:t>” and “VGG-16”, outlined in </a:t>
            </a:r>
            <a:r>
              <a:rPr lang="en-US" sz="2100" i="1" dirty="0">
                <a:solidFill>
                  <a:schemeClr val="dk1"/>
                </a:solidFill>
              </a:rPr>
              <a:t>CNN based feature extraction and classification for sign language </a:t>
            </a:r>
            <a:r>
              <a:rPr lang="en-US" sz="2100" dirty="0" smtClean="0">
                <a:solidFill>
                  <a:schemeClr val="dk1"/>
                </a:solidFill>
              </a:rPr>
              <a:t>[6] </a:t>
            </a:r>
            <a:r>
              <a:rPr lang="en-US" sz="2100" dirty="0">
                <a:solidFill>
                  <a:schemeClr val="dk1"/>
                </a:solidFill>
              </a:rPr>
              <a:t>described the remarkable achievement of an accuracy rate of up to 98% in sign language classification. This study used static ASL gestures to train the models.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</a:endParaRPr>
          </a:p>
          <a:p>
            <a:pPr marL="457200" lvl="0" indent="-36195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 dirty="0">
                <a:solidFill>
                  <a:schemeClr val="dk1"/>
                </a:solidFill>
              </a:rPr>
              <a:t>The utilization of </a:t>
            </a:r>
            <a:r>
              <a:rPr lang="en-US" sz="2100" dirty="0" err="1">
                <a:solidFill>
                  <a:schemeClr val="dk1"/>
                </a:solidFill>
              </a:rPr>
              <a:t>Densenet</a:t>
            </a:r>
            <a:r>
              <a:rPr lang="en-US" sz="2100" dirty="0">
                <a:solidFill>
                  <a:schemeClr val="dk1"/>
                </a:solidFill>
              </a:rPr>
              <a:t> in </a:t>
            </a:r>
            <a:r>
              <a:rPr lang="en-US" sz="2100" i="1" dirty="0">
                <a:solidFill>
                  <a:schemeClr val="dk1"/>
                </a:solidFill>
                <a:highlight>
                  <a:srgbClr val="FFFFFF"/>
                </a:highlight>
              </a:rPr>
              <a:t>Comparative Evaluation and Utilization of Convolutional Neural Network Architectures for Irish Sign Language Recognition </a:t>
            </a:r>
            <a:r>
              <a:rPr lang="en-US" sz="2100" dirty="0" smtClean="0">
                <a:solidFill>
                  <a:schemeClr val="dk1"/>
                </a:solidFill>
                <a:highlight>
                  <a:srgbClr val="FFFFFF"/>
                </a:highlight>
              </a:rPr>
              <a:t>[8] </a:t>
            </a:r>
            <a:r>
              <a:rPr lang="en-US" sz="2100" dirty="0">
                <a:solidFill>
                  <a:schemeClr val="dk1"/>
                </a:solidFill>
              </a:rPr>
              <a:t>evaluated CNN as the best architecture as it produced the highest recognition accuracy of 99%. This study was conducted on the ISL-HS dataset containing videos of 6 individuals</a:t>
            </a:r>
            <a:endParaRPr sz="21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</a:endParaRPr>
          </a:p>
          <a:p>
            <a:pPr lvl="0" indent="-361950" algn="just">
              <a:lnSpc>
                <a:spcPct val="105000"/>
              </a:lnSpc>
              <a:spcBef>
                <a:spcPts val="0"/>
              </a:spcBef>
              <a:buClr>
                <a:schemeClr val="dk1"/>
              </a:buClr>
              <a:buSzPts val="2100"/>
            </a:pPr>
            <a:r>
              <a:rPr lang="en-US" sz="2100" dirty="0" smtClean="0">
                <a:solidFill>
                  <a:schemeClr val="dk1"/>
                </a:solidFill>
              </a:rPr>
              <a:t>The </a:t>
            </a:r>
            <a:r>
              <a:rPr lang="en-US" sz="2100" dirty="0">
                <a:solidFill>
                  <a:schemeClr val="dk1"/>
                </a:solidFill>
              </a:rPr>
              <a:t>“Recent Advances on Deep Learning for Sign Language Recognition” by Zhang et al. </a:t>
            </a:r>
            <a:r>
              <a:rPr lang="en-US" sz="2100" dirty="0" smtClean="0">
                <a:solidFill>
                  <a:schemeClr val="dk1"/>
                </a:solidFill>
              </a:rPr>
              <a:t>[7] </a:t>
            </a:r>
            <a:r>
              <a:rPr lang="en-US" sz="2100" dirty="0">
                <a:solidFill>
                  <a:schemeClr val="dk1"/>
                </a:solidFill>
              </a:rPr>
              <a:t>compares SLR performed by different Deep Learning </a:t>
            </a:r>
            <a:r>
              <a:rPr lang="en-US" sz="2100" dirty="0" smtClean="0">
                <a:solidFill>
                  <a:schemeClr val="dk1"/>
                </a:solidFill>
              </a:rPr>
              <a:t>models and highlights </a:t>
            </a:r>
            <a:r>
              <a:rPr lang="en-US" sz="2100" dirty="0">
                <a:solidFill>
                  <a:schemeClr val="dk1"/>
                </a:solidFill>
              </a:rPr>
              <a:t>CNN models </a:t>
            </a:r>
            <a:r>
              <a:rPr lang="en-US" sz="2100" dirty="0" smtClean="0">
                <a:solidFill>
                  <a:schemeClr val="dk1"/>
                </a:solidFill>
              </a:rPr>
              <a:t>as a good fit for SLR. The accuracies of CNN models in the paper match our validation accuracies of nearly 99%. It is not clear if testing on unseen images was studied. The challenges of SLR using CNN also match the challenges we experienced. The challenges include </a:t>
            </a:r>
            <a:r>
              <a:rPr lang="en-US" sz="2000" dirty="0"/>
              <a:t>limited availability of large-scale and diverse datasets, the contradiction between model accuracy and computational power, real-time processing and </a:t>
            </a:r>
            <a:r>
              <a:rPr lang="en-US" sz="2000" dirty="0" smtClean="0"/>
              <a:t>latency, etc</a:t>
            </a:r>
            <a:r>
              <a:rPr lang="en-US" sz="2000" dirty="0"/>
              <a:t>.</a:t>
            </a:r>
            <a:endParaRPr sz="1900" dirty="0">
              <a:solidFill>
                <a:schemeClr val="dk1"/>
              </a:solidFill>
            </a:endParaRPr>
          </a:p>
        </p:txBody>
      </p:sp>
      <p:sp>
        <p:nvSpPr>
          <p:cNvPr id="196" name="Google Shape;196;g3d4dbceaba0_0_5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>
            <a:spLocks noGrp="1"/>
          </p:cNvSpPr>
          <p:nvPr>
            <p:ph type="body" idx="1"/>
          </p:nvPr>
        </p:nvSpPr>
        <p:spPr>
          <a:xfrm>
            <a:off x="381000" y="908050"/>
            <a:ext cx="805815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0" lvl="0" indent="0" algn="just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dirty="0" smtClean="0"/>
              <a:t>The following planned after the initial model were implemented in the final model:</a:t>
            </a:r>
            <a:endParaRPr dirty="0"/>
          </a:p>
          <a:p>
            <a:pPr marL="227013" lvl="0" indent="-227013" algn="just" rtl="0">
              <a:lnSpc>
                <a:spcPct val="7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 dirty="0" smtClean="0"/>
              <a:t>Addition of static filters – we added Gaussian, </a:t>
            </a:r>
            <a:r>
              <a:rPr lang="en-US" sz="2200" dirty="0" err="1" smtClean="0"/>
              <a:t>Sobel</a:t>
            </a:r>
            <a:r>
              <a:rPr lang="en-US" sz="2200" dirty="0" smtClean="0"/>
              <a:t> X, </a:t>
            </a:r>
            <a:r>
              <a:rPr lang="en-US" sz="2200" dirty="0" err="1" smtClean="0"/>
              <a:t>Sobel</a:t>
            </a:r>
            <a:r>
              <a:rPr lang="en-US" sz="2200" dirty="0" smtClean="0"/>
              <a:t> Y, and </a:t>
            </a:r>
            <a:r>
              <a:rPr lang="en-US" sz="2200" dirty="0" err="1" smtClean="0"/>
              <a:t>Laplacian</a:t>
            </a:r>
            <a:r>
              <a:rPr lang="en-US" sz="2200" dirty="0" smtClean="0"/>
              <a:t>.</a:t>
            </a:r>
            <a:r>
              <a:rPr lang="en-US" sz="2200" dirty="0" smtClean="0"/>
              <a:t> </a:t>
            </a:r>
            <a:endParaRPr sz="2200" dirty="0" smtClean="0"/>
          </a:p>
          <a:p>
            <a:pPr marL="227013" lvl="0" indent="-227013" algn="just" rtl="0">
              <a:lnSpc>
                <a:spcPct val="7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 dirty="0" smtClean="0"/>
              <a:t>Tuning</a:t>
            </a:r>
            <a:r>
              <a:rPr lang="en-US" sz="2200" dirty="0" smtClean="0"/>
              <a:t> </a:t>
            </a:r>
            <a:r>
              <a:rPr lang="en-US" sz="2200" dirty="0" err="1" smtClean="0"/>
              <a:t>hyperparameters</a:t>
            </a:r>
            <a:r>
              <a:rPr lang="en-US" sz="2200" dirty="0" smtClean="0"/>
              <a:t> of the model and analyzing their influence on the model’s performance.</a:t>
            </a:r>
            <a:endParaRPr dirty="0" smtClean="0"/>
          </a:p>
          <a:p>
            <a:pPr marL="227013" lvl="0" indent="-227013" algn="just" rtl="0">
              <a:lnSpc>
                <a:spcPct val="7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 dirty="0" smtClean="0"/>
              <a:t>Adding a testing phase to our model.</a:t>
            </a:r>
          </a:p>
          <a:p>
            <a:pPr marL="227013" lvl="0" indent="-227013" algn="just" rtl="0">
              <a:lnSpc>
                <a:spcPct val="7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-US" sz="2200" dirty="0" smtClean="0"/>
              <a:t>Training and testing the model on different datasets.</a:t>
            </a:r>
          </a:p>
          <a:p>
            <a:pPr marL="227013" lvl="0" indent="-227013" algn="just" rtl="0">
              <a:lnSpc>
                <a:spcPct val="7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endParaRPr lang="en-US" sz="2200" dirty="0"/>
          </a:p>
          <a:p>
            <a:pPr marL="0" lvl="0" indent="0" algn="just" rtl="0">
              <a:lnSpc>
                <a:spcPct val="7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 dirty="0" smtClean="0"/>
              <a:t>A possible future improvement is to apply our model to video streams.</a:t>
            </a:r>
            <a:endParaRPr lang="en-US" sz="2200" dirty="0" smtClean="0"/>
          </a:p>
        </p:txBody>
      </p:sp>
      <p:sp>
        <p:nvSpPr>
          <p:cNvPr id="202" name="Google Shape;202;p15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/>
          </a:p>
        </p:txBody>
      </p:sp>
      <p:pic>
        <p:nvPicPr>
          <p:cNvPr id="204" name="Google Shape;204;p15" descr="Literature Review] Continuous Sign Language Recognition Based on Motor  attention mechanism and frame-level Self-distilla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4172250"/>
            <a:ext cx="4800600" cy="2500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>
            <a:spLocks noGrp="1"/>
          </p:cNvSpPr>
          <p:nvPr>
            <p:ph type="body" idx="1"/>
          </p:nvPr>
        </p:nvSpPr>
        <p:spPr>
          <a:xfrm>
            <a:off x="381000" y="1066800"/>
            <a:ext cx="8058150" cy="556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92500" lnSpcReduction="20000"/>
          </a:bodyPr>
          <a:lstStyle/>
          <a:p>
            <a:pPr marL="227013" lvl="0" indent="-227013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400" dirty="0"/>
              <a:t>Successfully </a:t>
            </a:r>
            <a:r>
              <a:rPr lang="en-US" sz="2400" dirty="0" smtClean="0"/>
              <a:t>implemented three </a:t>
            </a:r>
            <a:r>
              <a:rPr lang="en-US" sz="2400" dirty="0" smtClean="0"/>
              <a:t>CNN models, differed by training dataset, </a:t>
            </a:r>
            <a:r>
              <a:rPr lang="en-US" sz="2400" dirty="0"/>
              <a:t>capable of recognizing hand sign images for letters with high accuracy. </a:t>
            </a:r>
            <a:endParaRPr sz="2400" dirty="0"/>
          </a:p>
          <a:p>
            <a:pPr marL="227013" lvl="0" indent="-227013" algn="just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400" dirty="0" smtClean="0"/>
              <a:t>Results demonstrated good model performance in training and validation and poor performance in testing.</a:t>
            </a:r>
            <a:endParaRPr lang="en-US" sz="2400" dirty="0" smtClean="0"/>
          </a:p>
          <a:p>
            <a:pPr marL="227013" lvl="0" indent="-227013" algn="just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400" dirty="0" smtClean="0"/>
              <a:t>To improve testing performance training datasets of larger sizes are required.</a:t>
            </a:r>
            <a:endParaRPr lang="en-US" sz="2400" dirty="0" smtClean="0"/>
          </a:p>
          <a:p>
            <a:pPr marL="227013" lvl="0" indent="-227013" algn="just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400" dirty="0" smtClean="0"/>
              <a:t>Increasing the training dataset size above 2000 images per letter was not possible due to memory limitations.</a:t>
            </a:r>
            <a:endParaRPr lang="en-US" sz="2400" dirty="0" smtClean="0"/>
          </a:p>
          <a:p>
            <a:pPr marL="227013" lvl="0" indent="-227013" algn="just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400" dirty="0" smtClean="0"/>
              <a:t>Comparison of the three models showed similar results with validation accuracy in the range of 96% to 99%</a:t>
            </a:r>
            <a:endParaRPr lang="en-US" sz="2400" dirty="0" smtClean="0"/>
          </a:p>
          <a:p>
            <a:pPr marL="227013" lvl="0" indent="-227013" algn="just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400" dirty="0" smtClean="0"/>
              <a:t>Increasing the data size from 1000 images per letter to 2000 showed worse testing performance due to increased </a:t>
            </a:r>
            <a:r>
              <a:rPr lang="en-US" sz="2400" dirty="0" err="1" smtClean="0"/>
              <a:t>overfitting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marL="227013" lvl="0" indent="-227013" algn="just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400" dirty="0" smtClean="0"/>
              <a:t>Features extracted in the convolutional layers were visualized by showing the feature map and using the </a:t>
            </a:r>
            <a:r>
              <a:rPr lang="en-US" sz="2400" dirty="0" err="1" smtClean="0"/>
              <a:t>GradCam</a:t>
            </a:r>
            <a:r>
              <a:rPr lang="en-US" sz="2400" dirty="0" smtClean="0"/>
              <a:t> technique.</a:t>
            </a:r>
          </a:p>
          <a:p>
            <a:pPr marL="227013" lvl="0" indent="-227013" algn="just">
              <a:lnSpc>
                <a:spcPct val="100000"/>
              </a:lnSpc>
              <a:spcBef>
                <a:spcPts val="900"/>
              </a:spcBef>
              <a:buSzPct val="100000"/>
            </a:pPr>
            <a:r>
              <a:rPr lang="en-US" sz="2400" dirty="0"/>
              <a:t>Overall, we are satisfied with our implementation of our CNN models, obtained results, and goals achieved.</a:t>
            </a:r>
            <a:endParaRPr sz="2400" dirty="0"/>
          </a:p>
        </p:txBody>
      </p:sp>
      <p:sp>
        <p:nvSpPr>
          <p:cNvPr id="210" name="Google Shape;210;p16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8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CONTRIBUTION</a:t>
            </a:r>
            <a:endParaRPr sz="28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23456"/>
              </p:ext>
            </p:extLst>
          </p:nvPr>
        </p:nvGraphicFramePr>
        <p:xfrm>
          <a:off x="548640" y="1251285"/>
          <a:ext cx="7998594" cy="44348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27794"/>
                <a:gridCol w="3570800"/>
              </a:tblGrid>
              <a:tr h="4235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 smtClean="0">
                          <a:effectLst/>
                        </a:rPr>
                        <a:t>Objectives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Contributor(s)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3657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 smtClean="0">
                          <a:effectLst/>
                        </a:rPr>
                        <a:t>Topic </a:t>
                      </a:r>
                      <a:r>
                        <a:rPr lang="en-US" sz="1600" kern="0" dirty="0">
                          <a:effectLst/>
                        </a:rPr>
                        <a:t>selection and proposal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 </a:t>
                      </a:r>
                      <a:r>
                        <a:rPr lang="en-US" sz="1600" kern="0" dirty="0" smtClean="0">
                          <a:effectLst/>
                        </a:rPr>
                        <a:t>Michael </a:t>
                      </a:r>
                      <a:r>
                        <a:rPr lang="en-US" sz="1600" kern="0" dirty="0">
                          <a:effectLst/>
                        </a:rPr>
                        <a:t>and Robert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50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 err="1">
                          <a:effectLst/>
                        </a:rPr>
                        <a:t>GitHub</a:t>
                      </a:r>
                      <a:r>
                        <a:rPr lang="en-US" sz="1600" kern="0" dirty="0">
                          <a:effectLst/>
                        </a:rPr>
                        <a:t> repository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 smtClean="0">
                          <a:effectLst/>
                        </a:rPr>
                        <a:t>Robert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50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Dataset selections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Michael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50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CNN architecture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Michael and Robert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50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>
                          <a:effectLst/>
                        </a:rPr>
                        <a:t>Model implementation</a:t>
                      </a:r>
                      <a:endParaRPr lang="en-US" sz="1600" b="1" kern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Robert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50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>
                          <a:effectLst/>
                        </a:rPr>
                        <a:t>Progress report</a:t>
                      </a:r>
                      <a:endParaRPr lang="en-US" sz="1600" b="1" kern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Michael and Robert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50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>
                          <a:effectLst/>
                        </a:rPr>
                        <a:t>Model training/validation</a:t>
                      </a:r>
                      <a:endParaRPr lang="en-US" sz="1600" b="1" kern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Michael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50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>
                          <a:effectLst/>
                        </a:rPr>
                        <a:t>Model improvements</a:t>
                      </a:r>
                      <a:endParaRPr lang="en-US" sz="1600" b="1" kern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Robert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50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>
                          <a:effectLst/>
                        </a:rPr>
                        <a:t>Testing on unseen images</a:t>
                      </a:r>
                      <a:endParaRPr lang="en-US" sz="1600" b="1" kern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Michael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506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Final Report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14300" algn="l"/>
                          <a:tab pos="228600" algn="l"/>
                        </a:tabLst>
                      </a:pPr>
                      <a:r>
                        <a:rPr lang="en-US" sz="1600" kern="0" dirty="0">
                          <a:effectLst/>
                        </a:rPr>
                        <a:t>Michael and Robert</a:t>
                      </a:r>
                      <a:endParaRPr lang="en-US" sz="1600" b="1" kern="0" dirty="0"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581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320088" cy="54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114300" lvl="0" indent="0">
              <a:buNone/>
            </a:pPr>
            <a:r>
              <a:rPr lang="en-US" sz="1200" dirty="0" smtClean="0"/>
              <a:t>[1] “Sign </a:t>
            </a:r>
            <a:r>
              <a:rPr lang="en-US" sz="1200" dirty="0"/>
              <a:t>Language MNIST,” www.kaggle.com. https://www.kaggle.com/datasets/datamunge/sign-language-mnist/data.</a:t>
            </a:r>
          </a:p>
          <a:p>
            <a:pPr marL="288925" lvl="0" indent="-174625">
              <a:buNone/>
            </a:pPr>
            <a:r>
              <a:rPr lang="en-US" sz="1200" dirty="0" smtClean="0"/>
              <a:t>[2] </a:t>
            </a:r>
            <a:r>
              <a:rPr lang="en-US" sz="1200" dirty="0" err="1" smtClean="0"/>
              <a:t>Debashish</a:t>
            </a:r>
            <a:r>
              <a:rPr lang="en-US" sz="1200" dirty="0" smtClean="0"/>
              <a:t> </a:t>
            </a:r>
            <a:r>
              <a:rPr lang="en-US" sz="1200" dirty="0" err="1"/>
              <a:t>Sau</a:t>
            </a:r>
            <a:r>
              <a:rPr lang="en-US" sz="1200" dirty="0"/>
              <a:t>, “ASL (American Sign Language) Alphabet Dataset,” </a:t>
            </a:r>
            <a:r>
              <a:rPr lang="en-US" sz="1200" dirty="0" err="1"/>
              <a:t>Kaggle</a:t>
            </a:r>
            <a:r>
              <a:rPr lang="en-US" sz="1200" dirty="0"/>
              <a:t>, 2021. [Online]. Available: https://www.kaggle.com/datasets/ </a:t>
            </a:r>
            <a:r>
              <a:rPr lang="en-US" sz="1200" dirty="0" err="1"/>
              <a:t>debashishsau</a:t>
            </a:r>
            <a:r>
              <a:rPr lang="en-US" sz="1200" dirty="0"/>
              <a:t>/</a:t>
            </a:r>
            <a:r>
              <a:rPr lang="en-US" sz="1200" dirty="0" err="1"/>
              <a:t>aslamerican</a:t>
            </a:r>
            <a:r>
              <a:rPr lang="en-US" sz="1200" dirty="0"/>
              <a:t>-sign-language-</a:t>
            </a:r>
            <a:r>
              <a:rPr lang="en-US" sz="1200" dirty="0" err="1"/>
              <a:t>aplhabet</a:t>
            </a:r>
            <a:r>
              <a:rPr lang="en-US" sz="1200" dirty="0"/>
              <a:t>-dataset</a:t>
            </a:r>
          </a:p>
          <a:p>
            <a:pPr marL="288925" lvl="0" indent="-174625">
              <a:buNone/>
            </a:pPr>
            <a:r>
              <a:rPr lang="en-US" sz="1200" dirty="0" smtClean="0"/>
              <a:t>[3] F</a:t>
            </a:r>
            <a:r>
              <a:rPr lang="en-US" sz="1200" dirty="0"/>
              <a:t>. Islam, “ASL-HG: American Sign Language Hand Gesture Image Dataset,” </a:t>
            </a:r>
            <a:r>
              <a:rPr lang="en-US" sz="1200" dirty="0" err="1"/>
              <a:t>Mendeley</a:t>
            </a:r>
            <a:r>
              <a:rPr lang="en-US" sz="1200" dirty="0"/>
              <a:t> Data, vol. 1, Nov. 2025, </a:t>
            </a:r>
            <a:r>
              <a:rPr lang="en-US" sz="1200" dirty="0" err="1"/>
              <a:t>doi</a:t>
            </a:r>
            <a:r>
              <a:rPr lang="en-US" sz="1200" dirty="0"/>
              <a:t>: https://doi.org/10.17632/j4y5w2c8w9.1.</a:t>
            </a:r>
          </a:p>
          <a:p>
            <a:pPr marL="288925" lvl="0" indent="-174625">
              <a:buNone/>
            </a:pPr>
            <a:r>
              <a:rPr lang="en-US" sz="1200" dirty="0" smtClean="0"/>
              <a:t>[4] A</a:t>
            </a:r>
            <a:r>
              <a:rPr lang="en-US" sz="1200" dirty="0"/>
              <a:t>. Abdullah, G. A. </a:t>
            </a:r>
            <a:r>
              <a:rPr lang="en-US" sz="1200" dirty="0" err="1"/>
              <a:t>Amoudi</a:t>
            </a:r>
            <a:r>
              <a:rPr lang="en-US" sz="1200" dirty="0"/>
              <a:t>, and H. S. </a:t>
            </a:r>
            <a:r>
              <a:rPr lang="en-US" sz="1200" dirty="0" err="1"/>
              <a:t>Alghamdi</a:t>
            </a:r>
            <a:r>
              <a:rPr lang="en-US" sz="1200" dirty="0"/>
              <a:t>, “Advancements in Sign Language Recognition: A Comprehensive Review and Future Prospects,” IEEE Access, vol. 12, pp. 128871–128895, Jan. 2024, </a:t>
            </a:r>
            <a:r>
              <a:rPr lang="en-US" sz="1200" dirty="0" err="1"/>
              <a:t>doi</a:t>
            </a:r>
            <a:r>
              <a:rPr lang="en-US" sz="1200" dirty="0"/>
              <a:t>: https://doi.org/10.1109/access.2024.3457692.</a:t>
            </a:r>
          </a:p>
          <a:p>
            <a:pPr marL="288925" lvl="0" indent="-174625">
              <a:buNone/>
            </a:pPr>
            <a:r>
              <a:rPr lang="en-US" sz="1200" dirty="0" smtClean="0"/>
              <a:t>[5] U</a:t>
            </a:r>
            <a:r>
              <a:rPr lang="en-US" sz="1200" dirty="0"/>
              <a:t>. </a:t>
            </a:r>
            <a:r>
              <a:rPr lang="en-US" sz="1200" dirty="0" err="1"/>
              <a:t>Farooq</a:t>
            </a:r>
            <a:r>
              <a:rPr lang="en-US" sz="1200" dirty="0"/>
              <a:t>, M. S. M. Rahim, N. </a:t>
            </a:r>
            <a:r>
              <a:rPr lang="en-US" sz="1200" dirty="0" err="1"/>
              <a:t>Sabir</a:t>
            </a:r>
            <a:r>
              <a:rPr lang="en-US" sz="1200" dirty="0"/>
              <a:t>, A. </a:t>
            </a:r>
            <a:r>
              <a:rPr lang="en-US" sz="1200" dirty="0" err="1"/>
              <a:t>Hussain</a:t>
            </a:r>
            <a:r>
              <a:rPr lang="en-US" sz="1200" dirty="0"/>
              <a:t>, and A. </a:t>
            </a:r>
            <a:r>
              <a:rPr lang="en-US" sz="1200" dirty="0" err="1"/>
              <a:t>Abid</a:t>
            </a:r>
            <a:r>
              <a:rPr lang="en-US" sz="1200" dirty="0"/>
              <a:t>, ‘‘Advances in machine translation for sign language: Approaches, limitations, and challenges,’’ Neural </a:t>
            </a:r>
            <a:r>
              <a:rPr lang="en-US" sz="1200" dirty="0" err="1"/>
              <a:t>Comput</a:t>
            </a:r>
            <a:r>
              <a:rPr lang="en-US" sz="1200" dirty="0"/>
              <a:t>. Appl., vol. 33, no. 21, pp. 14357–14399, Nov. 2021.</a:t>
            </a:r>
          </a:p>
          <a:p>
            <a:pPr marL="288925" lvl="0" indent="-174625">
              <a:buNone/>
            </a:pPr>
            <a:r>
              <a:rPr lang="en-US" sz="1200" dirty="0" smtClean="0"/>
              <a:t>[6] A</a:t>
            </a:r>
            <a:r>
              <a:rPr lang="en-US" sz="1200" dirty="0"/>
              <a:t>. A. </a:t>
            </a:r>
            <a:r>
              <a:rPr lang="en-US" sz="1200" dirty="0" err="1"/>
              <a:t>Barbhuiya</a:t>
            </a:r>
            <a:r>
              <a:rPr lang="en-US" sz="1200" dirty="0"/>
              <a:t>, R. K. Karsh, and R. Jain, ‘‘CNN based feature extraction and classification for sign language,’’ Multimedia Tools Appl., vol. 80, no. 2, pp. 3051–3069, Jan. 2021.</a:t>
            </a:r>
          </a:p>
          <a:p>
            <a:pPr marL="288925" lvl="0" indent="-174625">
              <a:buNone/>
            </a:pPr>
            <a:r>
              <a:rPr lang="en-US" sz="1200" dirty="0" smtClean="0"/>
              <a:t>[7] Y</a:t>
            </a:r>
            <a:r>
              <a:rPr lang="en-US" sz="1200" dirty="0"/>
              <a:t>. Zhang and X. Jiang, “Recent Advances on Deep Learning for Sign Language Recognition,” Computer Modeling in Engineering &amp; Sciences, vol. 139, no. 3, pp. 2399–2450, 2024, </a:t>
            </a:r>
            <a:r>
              <a:rPr lang="en-US" sz="1200" dirty="0" err="1"/>
              <a:t>doi</a:t>
            </a:r>
            <a:r>
              <a:rPr lang="en-US" sz="1200" dirty="0"/>
              <a:t>: https://doi.org/10.32604/cmes.2023.045731.</a:t>
            </a:r>
          </a:p>
          <a:p>
            <a:pPr marL="288925" lvl="0" indent="-174625">
              <a:buNone/>
            </a:pPr>
            <a:r>
              <a:rPr lang="en-US" sz="1200" dirty="0" smtClean="0"/>
              <a:t>[8] H</a:t>
            </a:r>
            <a:r>
              <a:rPr lang="en-US" sz="1200" dirty="0"/>
              <a:t>. M. </a:t>
            </a:r>
            <a:r>
              <a:rPr lang="en-US" sz="1200" dirty="0" err="1"/>
              <a:t>Sarmad</a:t>
            </a:r>
            <a:r>
              <a:rPr lang="en-US" sz="1200" dirty="0"/>
              <a:t> Khan, S. D. </a:t>
            </a:r>
            <a:r>
              <a:rPr lang="en-US" sz="1200" dirty="0" err="1"/>
              <a:t>Mcloughlin</a:t>
            </a:r>
            <a:r>
              <a:rPr lang="en-US" sz="1200" dirty="0"/>
              <a:t>, and I. </a:t>
            </a:r>
            <a:r>
              <a:rPr lang="en-US" sz="1200" dirty="0" err="1"/>
              <a:t>Murtagh</a:t>
            </a:r>
            <a:r>
              <a:rPr lang="en-US" sz="1200" dirty="0"/>
              <a:t>, “Comparative Evaluation and Utilization of Convolutional Neural Network Architectures for Irish Sign Language Recognition,” International Journal of Combinatorial Optimization Problems and Informatics, vol. 16, no. 1, pp. 123–131, Mar. 2025, </a:t>
            </a:r>
            <a:r>
              <a:rPr lang="en-US" sz="1200" dirty="0" err="1"/>
              <a:t>doi</a:t>
            </a:r>
            <a:r>
              <a:rPr lang="en-US" sz="1200" dirty="0"/>
              <a:t>: https://doi.org/10.61467/2007.1558.2025.v16i1.550.</a:t>
            </a:r>
          </a:p>
          <a:p>
            <a:pPr marL="288925" lvl="0" indent="-174625">
              <a:buNone/>
            </a:pPr>
            <a:r>
              <a:rPr lang="en-US" sz="1200" dirty="0" smtClean="0"/>
              <a:t>[9] A</a:t>
            </a:r>
            <a:r>
              <a:rPr lang="en-US" sz="1200" dirty="0"/>
              <a:t>. A. </a:t>
            </a:r>
            <a:r>
              <a:rPr lang="en-US" sz="1200" dirty="0" err="1"/>
              <a:t>Barbhuiya</a:t>
            </a:r>
            <a:r>
              <a:rPr lang="en-US" sz="1200" dirty="0"/>
              <a:t>, R. K. Karsh, and R. Jain, “CNN based feature extraction and classification for sign language,” Multimedia Tools Appl., vol. 80, no. 2, pp. 3051–3069, 2021, </a:t>
            </a:r>
            <a:r>
              <a:rPr lang="en-US" sz="1200" dirty="0" err="1"/>
              <a:t>doi</a:t>
            </a:r>
            <a:r>
              <a:rPr lang="en-US" sz="1200" dirty="0"/>
              <a:t>: 10.1007/S11042-020-09829-Y.</a:t>
            </a:r>
          </a:p>
          <a:p>
            <a:pPr marL="346075" lvl="0" indent="-231775">
              <a:buNone/>
            </a:pPr>
            <a:r>
              <a:rPr lang="en-US" sz="1200" dirty="0" smtClean="0"/>
              <a:t>[10] G</a:t>
            </a:r>
            <a:r>
              <a:rPr lang="en-US" sz="1200" dirty="0"/>
              <a:t>. Huang, Z. Liu, L. Van Der </a:t>
            </a:r>
            <a:r>
              <a:rPr lang="en-US" sz="1200" dirty="0" err="1"/>
              <a:t>Maaten</a:t>
            </a:r>
            <a:r>
              <a:rPr lang="en-US" sz="1200" dirty="0"/>
              <a:t>, and K. Q. Weinberger, “Densely connected convolutional networks,” in Proc. 30th IEEE Conf. </a:t>
            </a:r>
            <a:r>
              <a:rPr lang="en-US" sz="1200" dirty="0" err="1"/>
              <a:t>Comput</a:t>
            </a:r>
            <a:r>
              <a:rPr lang="en-US" sz="1200" dirty="0"/>
              <a:t>. Vis. Pattern </a:t>
            </a:r>
            <a:r>
              <a:rPr lang="en-US" sz="1200" dirty="0" err="1"/>
              <a:t>Recognit</a:t>
            </a:r>
            <a:r>
              <a:rPr lang="en-US" sz="1200" dirty="0"/>
              <a:t>. (CVPR), 2017, pp. 2261–2269, </a:t>
            </a:r>
            <a:r>
              <a:rPr lang="en-US" sz="1200" dirty="0" err="1"/>
              <a:t>doi</a:t>
            </a:r>
            <a:r>
              <a:rPr lang="en-US" sz="1200" dirty="0"/>
              <a:t>: 10.1109/CVPR.2017.243.</a:t>
            </a:r>
          </a:p>
          <a:p>
            <a:pPr marL="346075" lvl="0" indent="-231775">
              <a:buNone/>
            </a:pPr>
            <a:r>
              <a:rPr lang="en-US" sz="1200" dirty="0" smtClean="0"/>
              <a:t>[11] H</a:t>
            </a:r>
            <a:r>
              <a:rPr lang="en-US" sz="1200" dirty="0"/>
              <a:t>. A. </a:t>
            </a:r>
            <a:r>
              <a:rPr lang="en-US" sz="1200" dirty="0" err="1"/>
              <a:t>Taher</a:t>
            </a:r>
            <a:r>
              <a:rPr lang="en-US" sz="1200" dirty="0"/>
              <a:t> and S. R. M. </a:t>
            </a:r>
            <a:r>
              <a:rPr lang="en-US" sz="1200" dirty="0" err="1"/>
              <a:t>Zeebaree</a:t>
            </a:r>
            <a:r>
              <a:rPr lang="en-US" sz="1200" dirty="0"/>
              <a:t>, "A Critical Study of Recent Deep Learning-Based Continuous Sign Language Recognition," The Review of </a:t>
            </a:r>
            <a:r>
              <a:rPr lang="en-US" sz="1200" dirty="0" err="1"/>
              <a:t>Socionetwork</a:t>
            </a:r>
            <a:r>
              <a:rPr lang="en-US" sz="1200" dirty="0"/>
              <a:t> Strategies, vol. 19, no. 1, pp. 131–161, 2025. </a:t>
            </a:r>
            <a:r>
              <a:rPr lang="en-US" sz="1200" dirty="0" err="1"/>
              <a:t>doi</a:t>
            </a:r>
            <a:r>
              <a:rPr lang="en-US" sz="1200" dirty="0"/>
              <a:t>: </a:t>
            </a:r>
            <a:r>
              <a:rPr lang="en-US" sz="1200" dirty="0" smtClean="0"/>
              <a:t>10.1007/s12626-025-00180-y.</a:t>
            </a:r>
          </a:p>
          <a:p>
            <a:pPr marL="346075" lvl="0" indent="-231775">
              <a:buNone/>
            </a:pPr>
            <a:r>
              <a:rPr lang="en-US" sz="1200" dirty="0" smtClean="0"/>
              <a:t>[12] D. E. </a:t>
            </a:r>
            <a:r>
              <a:rPr lang="en-US" sz="1200" dirty="0" err="1" smtClean="0"/>
              <a:t>Rumelhart</a:t>
            </a:r>
            <a:r>
              <a:rPr lang="en-US" sz="1200" dirty="0" smtClean="0"/>
              <a:t>, G. E. Hinton, and R. J. Williams, “Learning representations by back-propagating errors,” Nature, vol. 323, no. 6088, pp. 533–536, Oct. 1986, </a:t>
            </a:r>
            <a:r>
              <a:rPr lang="en-US" sz="1200" dirty="0" err="1" smtClean="0"/>
              <a:t>doi</a:t>
            </a:r>
            <a:r>
              <a:rPr lang="en-US" sz="1200" dirty="0" smtClean="0"/>
              <a:t>: https://doi.org/10.1038/323533a0.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000" dirty="0"/>
          </a:p>
        </p:txBody>
      </p:sp>
      <p:sp>
        <p:nvSpPr>
          <p:cNvPr id="217" name="Google Shape;217;p17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74688" y="30163"/>
            <a:ext cx="6443662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"/>
          <p:cNvSpPr txBox="1">
            <a:spLocks noGrp="1"/>
          </p:cNvSpPr>
          <p:nvPr>
            <p:ph type="sldNum" idx="12"/>
          </p:nvPr>
        </p:nvSpPr>
        <p:spPr>
          <a:xfrm>
            <a:off x="8256588" y="6415088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5734050" y="2552700"/>
            <a:ext cx="2820988" cy="160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2484</Words>
  <Application>Microsoft Office PowerPoint</Application>
  <PresentationFormat>On-screen Show (4:3)</PresentationFormat>
  <Paragraphs>260</Paragraphs>
  <Slides>29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Vitalik</dc:creator>
  <cp:lastModifiedBy>Vitalik</cp:lastModifiedBy>
  <cp:revision>13</cp:revision>
  <dcterms:modified xsi:type="dcterms:W3CDTF">2026-05-04T12:38:17Z</dcterms:modified>
</cp:coreProperties>
</file>