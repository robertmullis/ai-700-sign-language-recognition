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9" r:id="rId9"/>
    <p:sldId id="263" r:id="rId10"/>
    <p:sldId id="264" r:id="rId11"/>
    <p:sldId id="265" r:id="rId12"/>
    <p:sldId id="266" r:id="rId13"/>
    <p:sldId id="267" r:id="rId14"/>
    <p:sldId id="268" r:id="rId15"/>
  </p:sldIdLst>
  <p:sldSz cx="9144000" cy="6858000" type="screen4x3"/>
  <p:notesSz cx="6858000" cy="9144000"/>
  <p:defaultTextStyle>
    <a:defPPr>
      <a:defRPr lang="en-US"/>
    </a:defPPr>
    <a:lvl1pPr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1pPr>
    <a:lvl2pPr indent="342900"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2pPr>
    <a:lvl3pPr indent="685800"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3pPr>
    <a:lvl4pPr indent="1028700"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4pPr>
    <a:lvl5pPr indent="1371600"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5pPr>
    <a:lvl6pPr marL="2286000" algn="l" defTabSz="914400" rtl="0" eaLnBrk="1" latinLnBrk="0" hangingPunct="1">
      <a:defRPr sz="1300" kern="1200">
        <a:solidFill>
          <a:srgbClr val="000000"/>
        </a:solidFill>
        <a:latin typeface="Calibri" pitchFamily="34" charset="0"/>
        <a:ea typeface="+mn-ea"/>
        <a:cs typeface="Calibri" pitchFamily="34" charset="0"/>
        <a:sym typeface="Calibri" pitchFamily="34" charset="0"/>
      </a:defRPr>
    </a:lvl6pPr>
    <a:lvl7pPr marL="2743200" algn="l" defTabSz="914400" rtl="0" eaLnBrk="1" latinLnBrk="0" hangingPunct="1">
      <a:defRPr sz="1300" kern="1200">
        <a:solidFill>
          <a:srgbClr val="000000"/>
        </a:solidFill>
        <a:latin typeface="Calibri" pitchFamily="34" charset="0"/>
        <a:ea typeface="+mn-ea"/>
        <a:cs typeface="Calibri" pitchFamily="34" charset="0"/>
        <a:sym typeface="Calibri" pitchFamily="34" charset="0"/>
      </a:defRPr>
    </a:lvl7pPr>
    <a:lvl8pPr marL="3200400" algn="l" defTabSz="914400" rtl="0" eaLnBrk="1" latinLnBrk="0" hangingPunct="1">
      <a:defRPr sz="1300" kern="1200">
        <a:solidFill>
          <a:srgbClr val="000000"/>
        </a:solidFill>
        <a:latin typeface="Calibri" pitchFamily="34" charset="0"/>
        <a:ea typeface="+mn-ea"/>
        <a:cs typeface="Calibri" pitchFamily="34" charset="0"/>
        <a:sym typeface="Calibri" pitchFamily="34" charset="0"/>
      </a:defRPr>
    </a:lvl8pPr>
    <a:lvl9pPr marL="3657600" algn="l" defTabSz="914400" rtl="0" eaLnBrk="1" latinLnBrk="0" hangingPunct="1">
      <a:defRPr sz="1300" kern="1200">
        <a:solidFill>
          <a:srgbClr val="000000"/>
        </a:solidFill>
        <a:latin typeface="Calibri" pitchFamily="34" charset="0"/>
        <a:ea typeface="+mn-ea"/>
        <a:cs typeface="Calibri" pitchFamily="34" charset="0"/>
        <a:sym typeface="Calibri"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5" autoAdjust="0"/>
    <p:restoredTop sz="94701" autoAdjust="0"/>
  </p:normalViewPr>
  <p:slideViewPr>
    <p:cSldViewPr>
      <p:cViewPr>
        <p:scale>
          <a:sx n="100" d="100"/>
          <a:sy n="100" d="100"/>
        </p:scale>
        <p:origin x="-1860" y="-5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74" d="100"/>
          <a:sy n="74" d="100"/>
        </p:scale>
        <p:origin x="-267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B72D76-3BA2-486D-8C6F-96D335A9C5BB}" type="datetimeFigureOut">
              <a:rPr lang="en-US" smtClean="0"/>
              <a:t>3/2/2026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F41C02-F1E1-4E3F-A20E-226F1FF842DC}" type="slidenum">
              <a:rPr lang="en-US" smtClean="0"/>
              <a:t>‹#›</a:t>
            </a:fld>
            <a:endParaRPr lang="en-US"/>
          </a:p>
        </p:txBody>
      </p:sp>
    </p:spTree>
    <p:extLst>
      <p:ext uri="{BB962C8B-B14F-4D97-AF65-F5344CB8AC3E}">
        <p14:creationId xmlns:p14="http://schemas.microsoft.com/office/powerpoint/2010/main" val="675283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Shape 69"/>
          <p:cNvSpPr>
            <a:spLocks noGrp="1" noRot="1" noChangeAspect="1" noChangeArrowheads="1"/>
          </p:cNvSpPr>
          <p:nvPr>
            <p:ph type="sldImg"/>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147" name="Shape 70"/>
          <p:cNvSpPr>
            <a:spLocks noGrp="1" noChangeArrowheads="1"/>
          </p:cNvSpPr>
          <p:nvPr>
            <p:ph type="body" sz="quarter" idx="1"/>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smtClean="0">
              <a:sym typeface="Calibri" pitchFamily="34" charset="0"/>
            </a:endParaRPr>
          </a:p>
        </p:txBody>
      </p:sp>
    </p:spTree>
    <p:extLst>
      <p:ext uri="{BB962C8B-B14F-4D97-AF65-F5344CB8AC3E}">
        <p14:creationId xmlns:p14="http://schemas.microsoft.com/office/powerpoint/2010/main" val="1888146027"/>
      </p:ext>
    </p:extLst>
  </p:cSld>
  <p:clrMap bg1="lt1" tx1="dk1" bg2="lt2" tx2="dk2" accent1="accent1" accent2="accent2" accent3="accent3" accent4="accent4" accent5="accent5" accent6="accent6" hlink="hlink" folHlink="folHlink"/>
  <p:notesStyle>
    <a:lvl1pPr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1pPr>
    <a:lvl2pPr marL="742950" indent="-285750"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2pPr>
    <a:lvl3pPr marL="1143000" indent="-228600"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3pPr>
    <a:lvl4pPr marL="1600200" indent="-228600"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4pPr>
    <a:lvl5pPr marL="2057400" indent="-228600"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5pPr>
    <a:lvl6pPr indent="1143000" defTabSz="685800" latinLnBrk="0">
      <a:defRPr sz="900">
        <a:latin typeface="+mj-lt"/>
        <a:ea typeface="+mj-ea"/>
        <a:cs typeface="+mj-cs"/>
        <a:sym typeface="Calibri"/>
      </a:defRPr>
    </a:lvl6pPr>
    <a:lvl7pPr indent="1371600" defTabSz="685800" latinLnBrk="0">
      <a:defRPr sz="900">
        <a:latin typeface="+mj-lt"/>
        <a:ea typeface="+mj-ea"/>
        <a:cs typeface="+mj-cs"/>
        <a:sym typeface="Calibri"/>
      </a:defRPr>
    </a:lvl7pPr>
    <a:lvl8pPr indent="1600200" defTabSz="685800" latinLnBrk="0">
      <a:defRPr sz="900">
        <a:latin typeface="+mj-lt"/>
        <a:ea typeface="+mj-ea"/>
        <a:cs typeface="+mj-cs"/>
        <a:sym typeface="Calibri"/>
      </a:defRPr>
    </a:lvl8pPr>
    <a:lvl9pPr indent="1828800" defTabSz="685800" latinLnBrk="0">
      <a:defRPr sz="9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62847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7402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6578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2" name="Slide Number"/>
          <p:cNvSpPr txBox="1">
            <a:spLocks noGrp="1" noChangeArrowheads="1"/>
          </p:cNvSpPr>
          <p:nvPr>
            <p:ph type="sldNum" sz="quarter" idx="10"/>
          </p:nvPr>
        </p:nvSpPr>
        <p:spPr>
          <a:ln/>
        </p:spPr>
        <p:txBody>
          <a:bodyPr/>
          <a:lstStyle>
            <a:lvl1pPr>
              <a:defRPr/>
            </a:lvl1pPr>
          </a:lstStyle>
          <a:p>
            <a:fld id="{80844724-8F72-4A6D-A0F3-6FDEDB8C1C2C}" type="slidenum">
              <a:rPr lang="en-US"/>
              <a:pPr/>
              <a:t>‹#›</a:t>
            </a:fld>
            <a:endParaRPr lang="en-US"/>
          </a:p>
        </p:txBody>
      </p:sp>
    </p:spTree>
    <p:extLst>
      <p:ext uri="{BB962C8B-B14F-4D97-AF65-F5344CB8AC3E}">
        <p14:creationId xmlns:p14="http://schemas.microsoft.com/office/powerpoint/2010/main" val="2030123402"/>
      </p:ext>
    </p:extLst>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4" name="Rectangle 7"/>
          <p:cNvSpPr>
            <a:spLocks noChangeArrowheads="1"/>
          </p:cNvSpPr>
          <p:nvPr/>
        </p:nvSpPr>
        <p:spPr bwMode="auto">
          <a:xfrm>
            <a:off x="0" y="0"/>
            <a:ext cx="9144000" cy="9144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5" name="Rectangle 8"/>
          <p:cNvSpPr>
            <a:spLocks noChangeArrowheads="1"/>
          </p:cNvSpPr>
          <p:nvPr/>
        </p:nvSpPr>
        <p:spPr bwMode="auto">
          <a:xfrm>
            <a:off x="0" y="6675438"/>
            <a:ext cx="9144000" cy="182562"/>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6" name="Picture 11" descr="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7013" y="322263"/>
            <a:ext cx="668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2" name="Title Text"/>
          <p:cNvSpPr txBox="1">
            <a:spLocks noGrp="1"/>
          </p:cNvSpPr>
          <p:nvPr>
            <p:ph type="title"/>
          </p:nvPr>
        </p:nvSpPr>
        <p:spPr>
          <a:xfrm>
            <a:off x="628650" y="1233169"/>
            <a:ext cx="7886700" cy="1325563"/>
          </a:xfrm>
          <a:prstGeom prst="rect">
            <a:avLst/>
          </a:prstGeom>
        </p:spPr>
        <p:txBody>
          <a:bodyPr/>
          <a:lstStyle/>
          <a:p>
            <a:r>
              <a:t>Title Text</a:t>
            </a:r>
          </a:p>
        </p:txBody>
      </p:sp>
      <p:sp>
        <p:nvSpPr>
          <p:cNvPr id="23" name="Body Level One…"/>
          <p:cNvSpPr txBox="1">
            <a:spLocks noGrp="1"/>
          </p:cNvSpPr>
          <p:nvPr>
            <p:ph type="body" sz="half" idx="1"/>
          </p:nvPr>
        </p:nvSpPr>
        <p:spPr>
          <a:xfrm>
            <a:off x="628650" y="2693670"/>
            <a:ext cx="3886200" cy="347672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 name="Slide Number"/>
          <p:cNvSpPr txBox="1">
            <a:spLocks noGrp="1" noChangeArrowheads="1"/>
          </p:cNvSpPr>
          <p:nvPr>
            <p:ph type="sldNum" sz="quarter" idx="10"/>
          </p:nvPr>
        </p:nvSpPr>
        <p:spPr>
          <a:xfrm>
            <a:off x="8256588" y="6415088"/>
            <a:ext cx="258762" cy="247650"/>
          </a:xfrm>
        </p:spPr>
        <p:txBody>
          <a:bodyPr/>
          <a:lstStyle>
            <a:lvl1pPr>
              <a:defRPr>
                <a:solidFill>
                  <a:srgbClr val="000000"/>
                </a:solidFill>
              </a:defRPr>
            </a:lvl1pPr>
          </a:lstStyle>
          <a:p>
            <a:fld id="{CF742F57-3EA8-4DBC-A1BA-FC05A5F4F428}" type="slidenum">
              <a:rPr lang="en-US"/>
              <a:pPr/>
              <a:t>‹#›</a:t>
            </a:fld>
            <a:endParaRPr lang="en-US"/>
          </a:p>
        </p:txBody>
      </p:sp>
    </p:spTree>
    <p:extLst>
      <p:ext uri="{BB962C8B-B14F-4D97-AF65-F5344CB8AC3E}">
        <p14:creationId xmlns:p14="http://schemas.microsoft.com/office/powerpoint/2010/main" val="225864964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5" name="Rectangle 7"/>
          <p:cNvSpPr>
            <a:spLocks noChangeArrowheads="1"/>
          </p:cNvSpPr>
          <p:nvPr/>
        </p:nvSpPr>
        <p:spPr bwMode="auto">
          <a:xfrm>
            <a:off x="0" y="0"/>
            <a:ext cx="9144000" cy="9144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6" name="Rectangle 9"/>
          <p:cNvSpPr>
            <a:spLocks noChangeArrowheads="1"/>
          </p:cNvSpPr>
          <p:nvPr/>
        </p:nvSpPr>
        <p:spPr bwMode="auto">
          <a:xfrm>
            <a:off x="0" y="6675438"/>
            <a:ext cx="9144000" cy="182562"/>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7" name="Picture 12" descr="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7013" y="322263"/>
            <a:ext cx="668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4" name="Title Text"/>
          <p:cNvSpPr txBox="1">
            <a:spLocks noGrp="1"/>
          </p:cNvSpPr>
          <p:nvPr>
            <p:ph type="title"/>
          </p:nvPr>
        </p:nvSpPr>
        <p:spPr>
          <a:xfrm>
            <a:off x="629841" y="1233169"/>
            <a:ext cx="2949178" cy="1600201"/>
          </a:xfrm>
          <a:prstGeom prst="rect">
            <a:avLst/>
          </a:prstGeom>
        </p:spPr>
        <p:txBody>
          <a:bodyPr anchor="b"/>
          <a:lstStyle>
            <a:lvl1pPr>
              <a:defRPr sz="3200"/>
            </a:lvl1pPr>
          </a:lstStyle>
          <a:p>
            <a:r>
              <a:t>Title Text</a:t>
            </a:r>
          </a:p>
        </p:txBody>
      </p:sp>
      <p:sp>
        <p:nvSpPr>
          <p:cNvPr id="35" name="Picture Placeholder 2"/>
          <p:cNvSpPr>
            <a:spLocks noGrp="1"/>
          </p:cNvSpPr>
          <p:nvPr>
            <p:ph type="pic" sz="half" idx="21"/>
          </p:nvPr>
        </p:nvSpPr>
        <p:spPr>
          <a:xfrm>
            <a:off x="3887391" y="1233169"/>
            <a:ext cx="4629151" cy="4873626"/>
          </a:xfrm>
          <a:prstGeom prst="rect">
            <a:avLst/>
          </a:prstGeom>
        </p:spPr>
        <p:txBody>
          <a:bodyPr lIns="91439" rIns="91439">
            <a:noAutofit/>
          </a:bodyPr>
          <a:lstStyle/>
          <a:p>
            <a:pPr lvl="0"/>
            <a:endParaRPr noProof="0">
              <a:sym typeface="Calibri"/>
            </a:endParaRPr>
          </a:p>
        </p:txBody>
      </p:sp>
      <p:sp>
        <p:nvSpPr>
          <p:cNvPr id="36" name="Body Level One…"/>
          <p:cNvSpPr txBox="1">
            <a:spLocks noGrp="1"/>
          </p:cNvSpPr>
          <p:nvPr>
            <p:ph type="body" sz="quarter" idx="1"/>
          </p:nvPr>
        </p:nvSpPr>
        <p:spPr>
          <a:xfrm>
            <a:off x="629841" y="2992292"/>
            <a:ext cx="2949178" cy="3114504"/>
          </a:xfrm>
          <a:prstGeom prst="rect">
            <a:avLst/>
          </a:prstGeom>
        </p:spPr>
        <p:txBody>
          <a:bodyPr/>
          <a:lstStyle>
            <a:lvl1pPr marL="0" indent="0">
              <a:buSzTx/>
              <a:buFontTx/>
              <a:buNone/>
              <a:defRPr sz="1600"/>
            </a:lvl1pPr>
            <a:lvl2pPr marL="0" indent="457189">
              <a:buSzTx/>
              <a:buFontTx/>
              <a:buNone/>
              <a:defRPr sz="1600"/>
            </a:lvl2pPr>
            <a:lvl3pPr marL="0" indent="914377">
              <a:buSzTx/>
              <a:buFontTx/>
              <a:buNone/>
              <a:defRPr sz="1600"/>
            </a:lvl3pPr>
            <a:lvl4pPr marL="0" indent="1371565">
              <a:buSzTx/>
              <a:buFontTx/>
              <a:buNone/>
              <a:defRPr sz="1600"/>
            </a:lvl4pPr>
            <a:lvl5pPr marL="0" indent="1828754">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 name="Slide Number"/>
          <p:cNvSpPr txBox="1">
            <a:spLocks noGrp="1" noChangeArrowheads="1"/>
          </p:cNvSpPr>
          <p:nvPr>
            <p:ph type="sldNum" sz="quarter" idx="22"/>
          </p:nvPr>
        </p:nvSpPr>
        <p:spPr>
          <a:xfrm>
            <a:off x="8256588" y="6415088"/>
            <a:ext cx="258762" cy="247650"/>
          </a:xfrm>
        </p:spPr>
        <p:txBody>
          <a:bodyPr/>
          <a:lstStyle>
            <a:lvl1pPr>
              <a:defRPr>
                <a:solidFill>
                  <a:srgbClr val="000000"/>
                </a:solidFill>
              </a:defRPr>
            </a:lvl1pPr>
          </a:lstStyle>
          <a:p>
            <a:fld id="{73D0482E-7A73-4427-AE91-5A159CE8D47F}" type="slidenum">
              <a:rPr lang="en-US"/>
              <a:pPr/>
              <a:t>‹#›</a:t>
            </a:fld>
            <a:endParaRPr lang="en-US"/>
          </a:p>
        </p:txBody>
      </p:sp>
    </p:spTree>
    <p:extLst>
      <p:ext uri="{BB962C8B-B14F-4D97-AF65-F5344CB8AC3E}">
        <p14:creationId xmlns:p14="http://schemas.microsoft.com/office/powerpoint/2010/main" val="239371516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4" name="Rectangle 6"/>
          <p:cNvSpPr>
            <a:spLocks noChangeArrowheads="1"/>
          </p:cNvSpPr>
          <p:nvPr/>
        </p:nvSpPr>
        <p:spPr bwMode="auto">
          <a:xfrm>
            <a:off x="0" y="0"/>
            <a:ext cx="9144000" cy="9144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5" name="Rectangle 7"/>
          <p:cNvSpPr>
            <a:spLocks noChangeArrowheads="1"/>
          </p:cNvSpPr>
          <p:nvPr/>
        </p:nvSpPr>
        <p:spPr bwMode="auto">
          <a:xfrm>
            <a:off x="0" y="6675438"/>
            <a:ext cx="9144000" cy="182562"/>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6" name="Picture 12" descr="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7013" y="322263"/>
            <a:ext cx="668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50" name="Title Text"/>
          <p:cNvSpPr txBox="1">
            <a:spLocks noGrp="1"/>
          </p:cNvSpPr>
          <p:nvPr>
            <p:ph type="title"/>
          </p:nvPr>
        </p:nvSpPr>
        <p:spPr>
          <a:xfrm>
            <a:off x="628650" y="1233169"/>
            <a:ext cx="7886700" cy="1325563"/>
          </a:xfrm>
          <a:prstGeom prst="rect">
            <a:avLst/>
          </a:prstGeom>
        </p:spPr>
        <p:txBody>
          <a:bodyPr/>
          <a:lstStyle/>
          <a:p>
            <a:r>
              <a:t>Title Text</a:t>
            </a:r>
          </a:p>
        </p:txBody>
      </p:sp>
      <p:sp>
        <p:nvSpPr>
          <p:cNvPr id="51" name="Body Level One…"/>
          <p:cNvSpPr txBox="1">
            <a:spLocks noGrp="1"/>
          </p:cNvSpPr>
          <p:nvPr>
            <p:ph type="body" idx="1"/>
          </p:nvPr>
        </p:nvSpPr>
        <p:spPr>
          <a:xfrm>
            <a:off x="628650" y="2693670"/>
            <a:ext cx="7886700" cy="347672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 name="Slide Number"/>
          <p:cNvSpPr txBox="1">
            <a:spLocks noGrp="1" noChangeArrowheads="1"/>
          </p:cNvSpPr>
          <p:nvPr>
            <p:ph type="sldNum" sz="quarter" idx="10"/>
          </p:nvPr>
        </p:nvSpPr>
        <p:spPr>
          <a:xfrm>
            <a:off x="8256588" y="6415088"/>
            <a:ext cx="258762" cy="247650"/>
          </a:xfrm>
        </p:spPr>
        <p:txBody>
          <a:bodyPr/>
          <a:lstStyle>
            <a:lvl1pPr>
              <a:defRPr>
                <a:solidFill>
                  <a:srgbClr val="000000"/>
                </a:solidFill>
              </a:defRPr>
            </a:lvl1pPr>
          </a:lstStyle>
          <a:p>
            <a:fld id="{21AB70E9-0C36-4B02-B6C5-FE815BCF100F}" type="slidenum">
              <a:rPr lang="en-US"/>
              <a:pPr/>
              <a:t>‹#›</a:t>
            </a:fld>
            <a:endParaRPr lang="en-US"/>
          </a:p>
        </p:txBody>
      </p:sp>
    </p:spTree>
    <p:extLst>
      <p:ext uri="{BB962C8B-B14F-4D97-AF65-F5344CB8AC3E}">
        <p14:creationId xmlns:p14="http://schemas.microsoft.com/office/powerpoint/2010/main" val="277640912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2" name="Rectangle 4"/>
          <p:cNvSpPr>
            <a:spLocks noChangeArrowheads="1"/>
          </p:cNvSpPr>
          <p:nvPr/>
        </p:nvSpPr>
        <p:spPr bwMode="auto">
          <a:xfrm>
            <a:off x="0" y="0"/>
            <a:ext cx="9144000" cy="68580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3" name="Rectangle 5"/>
          <p:cNvSpPr>
            <a:spLocks noChangeArrowheads="1"/>
          </p:cNvSpPr>
          <p:nvPr/>
        </p:nvSpPr>
        <p:spPr bwMode="auto">
          <a:xfrm>
            <a:off x="0" y="6675438"/>
            <a:ext cx="9144000" cy="182562"/>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4" name="Picture 8" descr="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7013" y="322263"/>
            <a:ext cx="668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6" name="Slide Number"/>
          <p:cNvSpPr txBox="1">
            <a:spLocks noGrp="1" noChangeArrowheads="1"/>
          </p:cNvSpPr>
          <p:nvPr>
            <p:ph type="sldNum" sz="quarter" idx="10"/>
          </p:nvPr>
        </p:nvSpPr>
        <p:spPr>
          <a:xfrm>
            <a:off x="8256588" y="6415088"/>
            <a:ext cx="258762" cy="247650"/>
          </a:xfrm>
        </p:spPr>
        <p:txBody>
          <a:bodyPr/>
          <a:lstStyle>
            <a:lvl1pPr>
              <a:defRPr/>
            </a:lvl1pPr>
          </a:lstStyle>
          <a:p>
            <a:fld id="{95239AD8-75AE-4DC9-8804-443BD584795C}" type="slidenum">
              <a:rPr lang="en-US"/>
              <a:pPr/>
              <a:t>‹#›</a:t>
            </a:fld>
            <a:endParaRPr lang="en-US"/>
          </a:p>
        </p:txBody>
      </p:sp>
      <p:pic>
        <p:nvPicPr>
          <p:cNvPr id="21505" name="Picture 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85800" y="-685800"/>
            <a:ext cx="6175375" cy="617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6688120"/>
      </p:ext>
    </p:extLst>
  </p:cSld>
  <p:clrMapOvr>
    <a:masterClrMapping/>
  </p:clrMapOvr>
  <p:transition spd="med"/>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0"/>
            <a:ext cx="9144000" cy="27432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1028" name="Rectangle 12"/>
          <p:cNvSpPr>
            <a:spLocks noChangeArrowheads="1"/>
          </p:cNvSpPr>
          <p:nvPr/>
        </p:nvSpPr>
        <p:spPr bwMode="auto">
          <a:xfrm>
            <a:off x="0" y="2651125"/>
            <a:ext cx="9144000" cy="92075"/>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1029" name="Picture 6" descr="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72150" y="6175375"/>
            <a:ext cx="2743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030" name="Title Text"/>
          <p:cNvSpPr txBox="1">
            <a:spLocks noGrp="1" noChangeArrowheads="1"/>
          </p:cNvSpPr>
          <p:nvPr>
            <p:ph type="title"/>
          </p:nvPr>
        </p:nvSpPr>
        <p:spPr bwMode="auto">
          <a:xfrm>
            <a:off x="457200" y="92075"/>
            <a:ext cx="82296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ctr" anchorCtr="0" compatLnSpc="1">
            <a:prstTxWarp prst="textNoShape">
              <a:avLst/>
            </a:prstTxWarp>
          </a:bodyPr>
          <a:lstStyle/>
          <a:p>
            <a:pPr lvl="0"/>
            <a:r>
              <a:rPr lang="en-US" smtClean="0">
                <a:sym typeface="Calibri Light" pitchFamily="34" charset="0"/>
              </a:rPr>
              <a:t>Title Text</a:t>
            </a:r>
          </a:p>
        </p:txBody>
      </p:sp>
      <p:sp>
        <p:nvSpPr>
          <p:cNvPr id="1031" name="Body Level One…"/>
          <p:cNvSpPr txBox="1">
            <a:spLocks noGrp="1" noChangeArrowheads="1"/>
          </p:cNvSpPr>
          <p:nvPr>
            <p:ph type="body" idx="1"/>
          </p:nvPr>
        </p:nvSpPr>
        <p:spPr bwMode="auto">
          <a:xfrm>
            <a:off x="457200" y="1600200"/>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t" anchorCtr="0" compatLnSpc="1">
            <a:prstTxWarp prst="textNoShape">
              <a:avLst/>
            </a:prstTxWarp>
          </a:bodyPr>
          <a:lstStyle/>
          <a:p>
            <a:pPr lvl="0"/>
            <a:r>
              <a:rPr lang="en-US" smtClean="0">
                <a:sym typeface="Calibri" pitchFamily="34" charset="0"/>
              </a:rPr>
              <a:t>Body Level One</a:t>
            </a:r>
          </a:p>
          <a:p>
            <a:pPr lvl="1"/>
            <a:r>
              <a:rPr lang="en-US" smtClean="0">
                <a:sym typeface="Calibri" pitchFamily="34" charset="0"/>
              </a:rPr>
              <a:t>Body Level Two</a:t>
            </a:r>
          </a:p>
          <a:p>
            <a:pPr lvl="2"/>
            <a:r>
              <a:rPr lang="en-US" smtClean="0">
                <a:sym typeface="Calibri" pitchFamily="34" charset="0"/>
              </a:rPr>
              <a:t>Body Level Three</a:t>
            </a:r>
          </a:p>
          <a:p>
            <a:pPr lvl="3"/>
            <a:r>
              <a:rPr lang="en-US" smtClean="0">
                <a:sym typeface="Calibri" pitchFamily="34" charset="0"/>
              </a:rPr>
              <a:t>Body Level Four</a:t>
            </a:r>
          </a:p>
          <a:p>
            <a:pPr lvl="4"/>
            <a:r>
              <a:rPr lang="en-US" smtClean="0">
                <a:sym typeface="Calibri" pitchFamily="34" charset="0"/>
              </a:rPr>
              <a:t>Body Level Five</a:t>
            </a:r>
          </a:p>
        </p:txBody>
      </p:sp>
      <p:sp>
        <p:nvSpPr>
          <p:cNvPr id="1032" name="Slide Number"/>
          <p:cNvSpPr txBox="1">
            <a:spLocks noGrp="1" noChangeArrowheads="1"/>
          </p:cNvSpPr>
          <p:nvPr>
            <p:ph type="sldNum" sz="quarter" idx="2"/>
          </p:nvPr>
        </p:nvSpPr>
        <p:spPr bwMode="auto">
          <a:xfrm>
            <a:off x="4419600" y="6172200"/>
            <a:ext cx="2133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none" lIns="45719" tIns="45720" rIns="45719" bIns="45720" numCol="1" anchor="ctr" anchorCtr="0" compatLnSpc="1">
            <a:prstTxWarp prst="textNoShape">
              <a:avLst/>
            </a:prstTxWarp>
            <a:spAutoFit/>
          </a:bodyPr>
          <a:lstStyle>
            <a:lvl1pPr algn="r" eaLnBrk="1">
              <a:defRPr sz="1200">
                <a:solidFill>
                  <a:srgbClr val="888888"/>
                </a:solidFill>
              </a:defRPr>
            </a:lvl1pPr>
          </a:lstStyle>
          <a:p>
            <a:fld id="{9E8976D5-FB26-4A21-A9C9-D0FECC56107B}" type="slidenum">
              <a:rPr lang="en-US"/>
              <a:pPr/>
              <a:t>‹#›</a:t>
            </a:fld>
            <a:endParaRPr lang="en-US"/>
          </a:p>
        </p:txBody>
      </p:sp>
      <p:pic>
        <p:nvPicPr>
          <p:cNvPr id="1033" name="Picture 9"/>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226175" y="-228600"/>
            <a:ext cx="3078163" cy="30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transition spd="med"/>
  <p:timing>
    <p:tnLst>
      <p:par>
        <p:cTn id="1" dur="indefinite" restart="never" nodeType="tmRoot"/>
      </p:par>
    </p:tnLst>
  </p:timing>
  <p:txStyles>
    <p:titleStyle>
      <a:lvl1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1pPr>
      <a:lvl2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2pPr>
      <a:lvl3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3pPr>
      <a:lvl4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4pPr>
      <a:lvl5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5pPr>
      <a:lvl6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7013" indent="-227013"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1pPr>
      <a:lvl2pPr marL="722313" indent="-265113"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2pPr>
      <a:lvl3pPr marL="1233488" indent="-319088"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3pPr>
      <a:lvl4pPr marL="1725613" indent="-354013"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4pPr>
      <a:lvl5pPr marL="2182813" indent="-354013"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5pPr>
      <a:lvl6pPr marL="2641533"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722"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5910"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099"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3429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6858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0287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3716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17145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0574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24003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27432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txBox="1">
            <a:spLocks noChangeArrowheads="1"/>
          </p:cNvSpPr>
          <p:nvPr/>
        </p:nvSpPr>
        <p:spPr bwMode="auto">
          <a:xfrm>
            <a:off x="561975" y="646113"/>
            <a:ext cx="79025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4000" b="1" dirty="0">
                <a:solidFill>
                  <a:srgbClr val="FFFFFF"/>
                </a:solidFill>
                <a:latin typeface="Calibri Light" pitchFamily="34" charset="0"/>
                <a:cs typeface="Calibri Light" pitchFamily="34" charset="0"/>
                <a:sym typeface="Calibri Light" pitchFamily="34" charset="0"/>
              </a:rPr>
              <a:t>Sign Language Recognition Using CNN</a:t>
            </a:r>
          </a:p>
        </p:txBody>
      </p:sp>
      <p:sp>
        <p:nvSpPr>
          <p:cNvPr id="7171" name="TextBox 8"/>
          <p:cNvSpPr txBox="1">
            <a:spLocks noChangeArrowheads="1"/>
          </p:cNvSpPr>
          <p:nvPr/>
        </p:nvSpPr>
        <p:spPr bwMode="auto">
          <a:xfrm>
            <a:off x="708025" y="5772150"/>
            <a:ext cx="281781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45719" rIns="45719">
            <a:spAutoFit/>
          </a:bodyPr>
          <a:lstStyle/>
          <a:p>
            <a:pPr eaLnBrk="1"/>
            <a:r>
              <a:rPr lang="en-US" sz="1400"/>
              <a:t>By: Michael Tesis, Robert Cole Mullisa</a:t>
            </a:r>
          </a:p>
          <a:p>
            <a:pPr eaLnBrk="1"/>
            <a:r>
              <a:rPr lang="en-US" sz="1400"/>
              <a:t>Date: 3/2/2026</a:t>
            </a:r>
          </a:p>
          <a:p>
            <a:pPr eaLnBrk="1"/>
            <a:r>
              <a:rPr lang="en-US" sz="1400"/>
              <a:t>AI700-001_BK_Spring 2026</a:t>
            </a:r>
          </a:p>
        </p:txBody>
      </p:sp>
      <p:pic>
        <p:nvPicPr>
          <p:cNvPr id="7172" name="Picture 2" descr="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88" y="3082925"/>
            <a:ext cx="7016750" cy="245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ontent Placeholder 2"/>
          <p:cNvSpPr txBox="1">
            <a:spLocks noGrp="1"/>
          </p:cNvSpPr>
          <p:nvPr>
            <p:ph type="body" idx="1"/>
          </p:nvPr>
        </p:nvSpPr>
        <p:spPr>
          <a:xfrm>
            <a:off x="628650" y="1122363"/>
            <a:ext cx="7886700" cy="5048250"/>
          </a:xfrm>
        </p:spPr>
        <p:txBody>
          <a:bodyPr>
            <a:normAutofit lnSpcReduction="10000"/>
          </a:bodyPr>
          <a:lstStyle/>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Title</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Outlines</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Introduction: Motivation and Problem Definition</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Application</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Literature Review</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Literature Review Results</a:t>
            </a:r>
          </a:p>
          <a:p>
            <a:pPr marL="478345" indent="-478345" defTabSz="850370" eaLnBrk="1" fontAlgn="auto" hangingPunct="1">
              <a:lnSpc>
                <a:spcPct val="81000"/>
              </a:lnSpc>
              <a:spcBef>
                <a:spcPts val="900"/>
              </a:spcBef>
              <a:spcAft>
                <a:spcPts val="0"/>
              </a:spcAft>
              <a:buFontTx/>
              <a:buAutoNum type="arabicPeriod"/>
              <a:defRPr sz="2046"/>
            </a:pPr>
            <a:r>
              <a:rPr sz="2046" dirty="0" smtClean="0">
                <a:sym typeface="Calibri"/>
              </a:rPr>
              <a:t>Algorithm/Approach/Methodology</a:t>
            </a:r>
            <a:endParaRPr lang="en-US" sz="2046" dirty="0" smtClean="0">
              <a:sym typeface="Calibri"/>
            </a:endParaRPr>
          </a:p>
          <a:p>
            <a:pPr marL="478345" indent="-478345" defTabSz="850370" eaLnBrk="1" fontAlgn="auto" hangingPunct="1">
              <a:lnSpc>
                <a:spcPct val="81000"/>
              </a:lnSpc>
              <a:spcBef>
                <a:spcPts val="900"/>
              </a:spcBef>
              <a:spcAft>
                <a:spcPts val="0"/>
              </a:spcAft>
              <a:buFontTx/>
              <a:buAutoNum type="arabicPeriod"/>
              <a:defRPr sz="2046"/>
            </a:pPr>
            <a:r>
              <a:rPr lang="en-US" sz="2046" dirty="0" smtClean="0">
                <a:sym typeface="Calibri"/>
              </a:rPr>
              <a:t>Project Timeline</a:t>
            </a:r>
            <a:endParaRPr sz="2046" dirty="0">
              <a:sym typeface="Calibri"/>
            </a:endParaRP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Dataset Exploration</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Understanding the Functions</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Obtained Results</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Conclusion and Future Work</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References </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Questions</a:t>
            </a:r>
          </a:p>
        </p:txBody>
      </p:sp>
      <p:sp>
        <p:nvSpPr>
          <p:cNvPr id="8196" name="Slide Number Placeholder 1"/>
          <p:cNvSpPr>
            <a:spLocks noGrp="1" noChangeArrowheads="1"/>
          </p:cNvSpPr>
          <p:nvPr>
            <p:ph type="sldNum" sz="quarter" idx="10"/>
          </p:nvPr>
        </p:nvSpPr>
        <p:spPr>
          <a:xfrm>
            <a:off x="8334375" y="6415088"/>
            <a:ext cx="180975" cy="247650"/>
          </a:xfrm>
          <a:noFill/>
        </p:spPr>
        <p:txBody>
          <a:bodyPr/>
          <a:lstStyle/>
          <a:p>
            <a:fld id="{D48CE66B-6528-407D-A7A8-DCBE6BE2D6C3}" type="slidenum">
              <a:rPr lang="en-US"/>
              <a:pPr/>
              <a:t>2</a:t>
            </a:fld>
            <a:endParaRPr lang="en-US"/>
          </a:p>
        </p:txBody>
      </p:sp>
      <p:sp>
        <p:nvSpPr>
          <p:cNvPr id="8195"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OUTLINES</a:t>
            </a:r>
            <a:endParaRPr lang="en-US" sz="2800" b="1" dirty="0">
              <a:solidFill>
                <a:srgbClr val="FFFFFF"/>
              </a:solidFill>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ontent Placeholder 2"/>
          <p:cNvSpPr txBox="1">
            <a:spLocks noGrp="1"/>
          </p:cNvSpPr>
          <p:nvPr>
            <p:ph type="body" idx="1"/>
          </p:nvPr>
        </p:nvSpPr>
        <p:spPr>
          <a:xfrm>
            <a:off x="628650" y="1122363"/>
            <a:ext cx="7886700" cy="5114925"/>
          </a:xfrm>
        </p:spPr>
        <p:txBody>
          <a:bodyPr>
            <a:normAutofit/>
          </a:bodyPr>
          <a:lstStyle/>
          <a:p>
            <a:pPr marL="0" indent="0" algn="just" defTabSz="905233" eaLnBrk="1" fontAlgn="auto" hangingPunct="1">
              <a:lnSpc>
                <a:spcPct val="81000"/>
              </a:lnSpc>
              <a:spcBef>
                <a:spcPts val="900"/>
              </a:spcBef>
              <a:spcAft>
                <a:spcPts val="0"/>
              </a:spcAft>
              <a:buSzTx/>
              <a:buFont typeface="Arial"/>
              <a:buNone/>
              <a:defRPr sz="2574" b="1"/>
            </a:pPr>
            <a:r>
              <a:rPr sz="2574" b="1">
                <a:sym typeface="Calibri"/>
              </a:rPr>
              <a:t>Motivation:</a:t>
            </a:r>
          </a:p>
          <a:p>
            <a:pPr marL="226308" indent="-226308" algn="just" defTabSz="905233" eaLnBrk="1" fontAlgn="auto" hangingPunct="1">
              <a:lnSpc>
                <a:spcPct val="81000"/>
              </a:lnSpc>
              <a:spcBef>
                <a:spcPts val="900"/>
              </a:spcBef>
              <a:spcAft>
                <a:spcPts val="0"/>
              </a:spcAft>
              <a:buFont typeface="Arial"/>
              <a:buChar char="•"/>
              <a:defRPr sz="2574"/>
            </a:pPr>
            <a:r>
              <a:rPr sz="2574">
                <a:sym typeface="Calibri"/>
              </a:rPr>
              <a:t>Create a practical CNN model capable of recognizing images of Sign Language gestures.</a:t>
            </a:r>
          </a:p>
          <a:p>
            <a:pPr marL="226308" indent="-226308" algn="just" defTabSz="905233" eaLnBrk="1" fontAlgn="auto" hangingPunct="1">
              <a:lnSpc>
                <a:spcPct val="81000"/>
              </a:lnSpc>
              <a:spcBef>
                <a:spcPts val="900"/>
              </a:spcBef>
              <a:spcAft>
                <a:spcPts val="0"/>
              </a:spcAft>
              <a:buFont typeface="Arial"/>
              <a:buChar char="•"/>
              <a:defRPr sz="2574"/>
            </a:pPr>
            <a:r>
              <a:rPr sz="2574">
                <a:sym typeface="Calibri"/>
              </a:rPr>
              <a:t>Learn how to apply fundamental Deep Learning concepts in practice.</a:t>
            </a:r>
          </a:p>
          <a:p>
            <a:pPr marL="226308" indent="-226308" algn="just" defTabSz="905233" eaLnBrk="1" fontAlgn="auto" hangingPunct="1">
              <a:lnSpc>
                <a:spcPct val="81000"/>
              </a:lnSpc>
              <a:spcBef>
                <a:spcPts val="900"/>
              </a:spcBef>
              <a:spcAft>
                <a:spcPts val="0"/>
              </a:spcAft>
              <a:buFont typeface="Arial"/>
              <a:buChar char="•"/>
              <a:defRPr sz="2574"/>
            </a:pPr>
            <a:r>
              <a:rPr sz="2574">
                <a:sym typeface="Calibri"/>
              </a:rPr>
              <a:t>Make a contribution to the development of SLR.</a:t>
            </a:r>
          </a:p>
          <a:p>
            <a:pPr marL="226308" indent="-226308" algn="just" defTabSz="905233" eaLnBrk="1" fontAlgn="auto" hangingPunct="1">
              <a:lnSpc>
                <a:spcPct val="81000"/>
              </a:lnSpc>
              <a:spcBef>
                <a:spcPts val="900"/>
              </a:spcBef>
              <a:spcAft>
                <a:spcPts val="0"/>
              </a:spcAft>
              <a:buFont typeface="Arial"/>
              <a:buChar char="•"/>
              <a:defRPr sz="2574"/>
            </a:pPr>
            <a:r>
              <a:rPr sz="2574">
                <a:sym typeface="Calibri"/>
              </a:rPr>
              <a:t>Demonstrate the performance of the chosen algorithm.</a:t>
            </a:r>
          </a:p>
          <a:p>
            <a:pPr marL="0" indent="0" algn="just" defTabSz="905233" eaLnBrk="1" fontAlgn="auto" hangingPunct="1">
              <a:lnSpc>
                <a:spcPct val="81000"/>
              </a:lnSpc>
              <a:spcBef>
                <a:spcPts val="900"/>
              </a:spcBef>
              <a:spcAft>
                <a:spcPts val="0"/>
              </a:spcAft>
              <a:buSzTx/>
              <a:buFont typeface="Arial"/>
              <a:buNone/>
              <a:defRPr sz="2574"/>
            </a:pPr>
            <a:endParaRPr sz="2574">
              <a:sym typeface="Calibri"/>
            </a:endParaRPr>
          </a:p>
          <a:p>
            <a:pPr marL="0" indent="0" algn="just" defTabSz="905233" eaLnBrk="1" fontAlgn="auto" hangingPunct="1">
              <a:lnSpc>
                <a:spcPct val="81000"/>
              </a:lnSpc>
              <a:spcBef>
                <a:spcPts val="900"/>
              </a:spcBef>
              <a:spcAft>
                <a:spcPts val="0"/>
              </a:spcAft>
              <a:buSzTx/>
              <a:buFont typeface="Arial"/>
              <a:buNone/>
              <a:defRPr sz="2574" b="1"/>
            </a:pPr>
            <a:r>
              <a:rPr sz="2574" b="1">
                <a:sym typeface="Calibri"/>
              </a:rPr>
              <a:t>Problem Definition:</a:t>
            </a:r>
          </a:p>
          <a:p>
            <a:pPr marL="0" indent="0" algn="just" defTabSz="905233" eaLnBrk="1" fontAlgn="auto" hangingPunct="1">
              <a:lnSpc>
                <a:spcPct val="81000"/>
              </a:lnSpc>
              <a:spcBef>
                <a:spcPts val="900"/>
              </a:spcBef>
              <a:spcAft>
                <a:spcPts val="0"/>
              </a:spcAft>
              <a:buSzTx/>
              <a:buFont typeface="Arial"/>
              <a:buNone/>
              <a:defRPr sz="2574"/>
            </a:pPr>
            <a:r>
              <a:rPr sz="2574">
                <a:sym typeface="Calibri"/>
              </a:rPr>
              <a:t>From an image containing a Sign Language gesture, we use Sign Language Recognition CNN model to recognize the gesture and output the corresponding English letter.</a:t>
            </a:r>
          </a:p>
        </p:txBody>
      </p:sp>
      <p:sp>
        <p:nvSpPr>
          <p:cNvPr id="9220" name="Slide Number Placeholder 1"/>
          <p:cNvSpPr>
            <a:spLocks noGrp="1" noChangeArrowheads="1"/>
          </p:cNvSpPr>
          <p:nvPr>
            <p:ph type="sldNum" sz="quarter" idx="10"/>
          </p:nvPr>
        </p:nvSpPr>
        <p:spPr>
          <a:xfrm>
            <a:off x="8334375" y="6415088"/>
            <a:ext cx="180975" cy="247650"/>
          </a:xfrm>
          <a:noFill/>
        </p:spPr>
        <p:txBody>
          <a:bodyPr/>
          <a:lstStyle/>
          <a:p>
            <a:fld id="{1F8BDC7F-28A7-4CEA-8C2D-056F1987CFA8}" type="slidenum">
              <a:rPr lang="en-US"/>
              <a:pPr/>
              <a:t>3</a:t>
            </a:fld>
            <a:endParaRPr lang="en-US"/>
          </a:p>
        </p:txBody>
      </p:sp>
      <p:sp>
        <p:nvSpPr>
          <p:cNvPr id="9219"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INTRODUCTION</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ontent Placeholder 2"/>
          <p:cNvSpPr txBox="1">
            <a:spLocks noGrp="1"/>
          </p:cNvSpPr>
          <p:nvPr>
            <p:ph type="body" idx="1"/>
          </p:nvPr>
        </p:nvSpPr>
        <p:spPr>
          <a:xfrm>
            <a:off x="227013" y="1195388"/>
            <a:ext cx="5249862" cy="5413375"/>
          </a:xfrm>
        </p:spPr>
        <p:txBody>
          <a:bodyPr>
            <a:normAutofit/>
          </a:bodyPr>
          <a:lstStyle/>
          <a:p>
            <a:pPr marL="0" indent="0" algn="just" defTabSz="914377" eaLnBrk="1" fontAlgn="auto" hangingPunct="1">
              <a:lnSpc>
                <a:spcPct val="81000"/>
              </a:lnSpc>
              <a:spcAft>
                <a:spcPts val="0"/>
              </a:spcAft>
              <a:buSzTx/>
              <a:buFont typeface="Arial"/>
              <a:buNone/>
              <a:defRPr sz="2500" b="1"/>
            </a:pPr>
            <a:r>
              <a:rPr sz="2500" b="1">
                <a:sym typeface="Calibri"/>
              </a:rPr>
              <a:t>Application for SLR:</a:t>
            </a:r>
          </a:p>
          <a:p>
            <a:pPr marL="228593" indent="-228593" algn="just" defTabSz="914377" eaLnBrk="1" fontAlgn="auto" hangingPunct="1">
              <a:lnSpc>
                <a:spcPct val="81000"/>
              </a:lnSpc>
              <a:spcAft>
                <a:spcPts val="0"/>
              </a:spcAft>
              <a:buFont typeface="Arial"/>
              <a:buChar char="•"/>
              <a:defRPr sz="2500"/>
            </a:pPr>
            <a:r>
              <a:rPr sz="2500">
                <a:sym typeface="Calibri"/>
              </a:rPr>
              <a:t>Bridge communication between people who know Sign Language and those who don’t.</a:t>
            </a:r>
          </a:p>
          <a:p>
            <a:pPr marL="228593" indent="-228593" algn="just" defTabSz="914377" eaLnBrk="1" fontAlgn="auto" hangingPunct="1">
              <a:lnSpc>
                <a:spcPct val="81000"/>
              </a:lnSpc>
              <a:spcAft>
                <a:spcPts val="0"/>
              </a:spcAft>
              <a:buFont typeface="Arial"/>
              <a:buChar char="•"/>
              <a:defRPr sz="2500"/>
            </a:pPr>
            <a:r>
              <a:rPr sz="2500">
                <a:sym typeface="Calibri"/>
              </a:rPr>
              <a:t>Improve communication between people who are hearing impaired.</a:t>
            </a:r>
          </a:p>
          <a:p>
            <a:pPr marL="228593" indent="-228593" algn="just" defTabSz="914377" eaLnBrk="1" fontAlgn="auto" hangingPunct="1">
              <a:lnSpc>
                <a:spcPct val="81000"/>
              </a:lnSpc>
              <a:spcAft>
                <a:spcPts val="0"/>
              </a:spcAft>
              <a:buFont typeface="Arial"/>
              <a:buChar char="•"/>
              <a:defRPr sz="2500"/>
            </a:pPr>
            <a:r>
              <a:rPr sz="2500">
                <a:sym typeface="Calibri"/>
              </a:rPr>
              <a:t>A technology to learn Sign Language and test your knowledge.</a:t>
            </a:r>
          </a:p>
          <a:p>
            <a:pPr marL="228593" indent="-228593" algn="just" defTabSz="914377" eaLnBrk="1" fontAlgn="auto" hangingPunct="1">
              <a:lnSpc>
                <a:spcPct val="81000"/>
              </a:lnSpc>
              <a:spcAft>
                <a:spcPts val="0"/>
              </a:spcAft>
              <a:buFont typeface="Arial"/>
              <a:buChar char="•"/>
              <a:defRPr sz="2500"/>
            </a:pPr>
            <a:r>
              <a:rPr sz="2500">
                <a:sym typeface="Calibri"/>
              </a:rPr>
              <a:t>Enable machines to recognize Sign Language in order to control them using gestures.</a:t>
            </a:r>
          </a:p>
          <a:p>
            <a:pPr marL="228593" indent="-228593" algn="just" defTabSz="914377" eaLnBrk="1" fontAlgn="auto" hangingPunct="1">
              <a:lnSpc>
                <a:spcPct val="81000"/>
              </a:lnSpc>
              <a:spcAft>
                <a:spcPts val="0"/>
              </a:spcAft>
              <a:buFont typeface="Arial"/>
              <a:buChar char="•"/>
              <a:defRPr sz="2500"/>
            </a:pPr>
            <a:r>
              <a:rPr sz="2500">
                <a:sym typeface="Calibri"/>
              </a:rPr>
              <a:t>Facilitate communication in loud environments or places where silence is needed.</a:t>
            </a:r>
          </a:p>
        </p:txBody>
      </p:sp>
      <p:sp>
        <p:nvSpPr>
          <p:cNvPr id="10244" name="Slide Number Placeholder 1"/>
          <p:cNvSpPr>
            <a:spLocks noGrp="1" noChangeArrowheads="1"/>
          </p:cNvSpPr>
          <p:nvPr>
            <p:ph type="sldNum" sz="quarter" idx="10"/>
          </p:nvPr>
        </p:nvSpPr>
        <p:spPr>
          <a:xfrm>
            <a:off x="8334375" y="6415088"/>
            <a:ext cx="180975" cy="247650"/>
          </a:xfrm>
          <a:noFill/>
        </p:spPr>
        <p:txBody>
          <a:bodyPr/>
          <a:lstStyle/>
          <a:p>
            <a:fld id="{430D3A52-CFC5-44C1-AB75-E4FD7B2474AA}" type="slidenum">
              <a:rPr lang="en-US"/>
              <a:pPr/>
              <a:t>4</a:t>
            </a:fld>
            <a:endParaRPr lang="en-US"/>
          </a:p>
        </p:txBody>
      </p:sp>
      <p:sp>
        <p:nvSpPr>
          <p:cNvPr id="10243"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APPLICATION</a:t>
            </a:r>
          </a:p>
        </p:txBody>
      </p:sp>
      <p:pic>
        <p:nvPicPr>
          <p:cNvPr id="10245" name="Picture 2" descr="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1488" y="2190750"/>
            <a:ext cx="3438525"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LITERATURE REVIEW</a:t>
            </a:r>
          </a:p>
        </p:txBody>
      </p:sp>
      <p:sp>
        <p:nvSpPr>
          <p:cNvPr id="90" name="Text Placeholder 14"/>
          <p:cNvSpPr txBox="1">
            <a:spLocks noGrp="1"/>
          </p:cNvSpPr>
          <p:nvPr>
            <p:ph type="body" sz="quarter" idx="1"/>
          </p:nvPr>
        </p:nvSpPr>
        <p:spPr>
          <a:xfrm>
            <a:off x="628650" y="1058863"/>
            <a:ext cx="8180388" cy="5662612"/>
          </a:xfrm>
        </p:spPr>
        <p:txBody>
          <a:bodyPr>
            <a:normAutofit/>
          </a:bodyPr>
          <a:lstStyle/>
          <a:p>
            <a:pPr defTabSz="914377" eaLnBrk="1" fontAlgn="auto" hangingPunct="1">
              <a:spcAft>
                <a:spcPts val="0"/>
              </a:spcAft>
              <a:defRPr sz="2000"/>
            </a:pPr>
            <a:r>
              <a:rPr sz="2000" dirty="0">
                <a:sym typeface="Calibri"/>
              </a:rPr>
              <a:t>	</a:t>
            </a:r>
          </a:p>
          <a:p>
            <a:pPr marL="342900" indent="-342900" algn="just" defTabSz="914377" eaLnBrk="1" fontAlgn="auto" hangingPunct="1">
              <a:spcBef>
                <a:spcPts val="0"/>
              </a:spcBef>
              <a:spcAft>
                <a:spcPts val="0"/>
              </a:spcAft>
              <a:buSzPct val="100000"/>
              <a:buFontTx/>
              <a:buAutoNum type="arabicPeriod"/>
              <a:defRPr sz="2000"/>
            </a:pPr>
            <a:r>
              <a:rPr sz="2000" dirty="0">
                <a:sym typeface="Calibri"/>
              </a:rPr>
              <a:t> S. K. Hafiz Muhammad, S. D. </a:t>
            </a:r>
            <a:r>
              <a:rPr sz="2000" dirty="0" err="1">
                <a:sym typeface="Calibri"/>
              </a:rPr>
              <a:t>Mcloughlin</a:t>
            </a:r>
            <a:r>
              <a:rPr sz="2000" dirty="0">
                <a:sym typeface="Calibri"/>
              </a:rPr>
              <a:t>, and I. </a:t>
            </a:r>
            <a:r>
              <a:rPr sz="2000" dirty="0" err="1" smtClean="0">
                <a:sym typeface="Calibri"/>
              </a:rPr>
              <a:t>Murtagh</a:t>
            </a:r>
            <a:r>
              <a:rPr sz="2000" dirty="0" smtClean="0">
                <a:sym typeface="Calibri"/>
              </a:rPr>
              <a:t> </a:t>
            </a:r>
            <a:r>
              <a:rPr sz="2000" dirty="0">
                <a:sym typeface="Calibri"/>
              </a:rPr>
              <a:t>in </a:t>
            </a:r>
            <a:r>
              <a:rPr sz="2000" dirty="0" smtClean="0">
                <a:sym typeface="Calibri"/>
              </a:rPr>
              <a:t>the</a:t>
            </a:r>
            <a:r>
              <a:rPr lang="en-US" sz="2000" dirty="0" smtClean="0">
                <a:sym typeface="Calibri"/>
              </a:rPr>
              <a:t>ir 2025</a:t>
            </a:r>
            <a:r>
              <a:rPr sz="2000" dirty="0" smtClean="0">
                <a:sym typeface="Calibri"/>
              </a:rPr>
              <a:t> </a:t>
            </a:r>
            <a:r>
              <a:rPr sz="2000" dirty="0">
                <a:sym typeface="Calibri"/>
              </a:rPr>
              <a:t>paper “Comparative Evaluation and Utilization of Convolutional Neural Network Architectures for Irish Sign Language Recognition</a:t>
            </a:r>
            <a:r>
              <a:rPr sz="2000" dirty="0" smtClean="0">
                <a:sym typeface="Calibri"/>
              </a:rPr>
              <a:t>” demonstrate </a:t>
            </a:r>
            <a:r>
              <a:rPr sz="2000" dirty="0">
                <a:sym typeface="Calibri"/>
              </a:rPr>
              <a:t>innovative technologies that apply SLR in everyday life. Their research evaluates the performance of different deep neural network architectures in the recognition of sign language.</a:t>
            </a:r>
          </a:p>
          <a:p>
            <a:pPr marL="342900" indent="-342900" algn="just" defTabSz="914377" eaLnBrk="1" fontAlgn="auto" hangingPunct="1">
              <a:spcBef>
                <a:spcPts val="0"/>
              </a:spcBef>
              <a:spcAft>
                <a:spcPts val="0"/>
              </a:spcAft>
              <a:buSzPct val="100000"/>
              <a:buFontTx/>
              <a:buAutoNum type="arabicPeriod"/>
              <a:defRPr sz="2000"/>
            </a:pPr>
            <a:endParaRPr sz="2000" dirty="0">
              <a:sym typeface="Calibri"/>
            </a:endParaRPr>
          </a:p>
          <a:p>
            <a:pPr marL="342900" indent="-342900" algn="just" defTabSz="914377" eaLnBrk="1" fontAlgn="auto" hangingPunct="1">
              <a:spcBef>
                <a:spcPts val="0"/>
              </a:spcBef>
              <a:spcAft>
                <a:spcPts val="0"/>
              </a:spcAft>
              <a:buSzPct val="100000"/>
              <a:buFontTx/>
              <a:buAutoNum type="arabicPeriod" startAt="2"/>
              <a:defRPr sz="2000"/>
            </a:pPr>
            <a:r>
              <a:rPr sz="2000" dirty="0">
                <a:sym typeface="Calibri"/>
              </a:rPr>
              <a:t>H. A. </a:t>
            </a:r>
            <a:r>
              <a:rPr sz="2000" dirty="0" err="1">
                <a:sym typeface="Calibri"/>
              </a:rPr>
              <a:t>Taher</a:t>
            </a:r>
            <a:r>
              <a:rPr sz="2000" dirty="0">
                <a:sym typeface="Calibri"/>
              </a:rPr>
              <a:t> and S. R. M. </a:t>
            </a:r>
            <a:r>
              <a:rPr sz="2000" dirty="0" err="1">
                <a:sym typeface="Calibri"/>
              </a:rPr>
              <a:t>Zeebaree</a:t>
            </a:r>
            <a:r>
              <a:rPr sz="2000" dirty="0">
                <a:sym typeface="Calibri"/>
              </a:rPr>
              <a:t> in </a:t>
            </a:r>
            <a:r>
              <a:rPr sz="2000" dirty="0" smtClean="0">
                <a:sym typeface="Calibri"/>
              </a:rPr>
              <a:t>the</a:t>
            </a:r>
            <a:r>
              <a:rPr lang="en-US" sz="2000" dirty="0" smtClean="0">
                <a:sym typeface="Calibri"/>
              </a:rPr>
              <a:t>ir 2025</a:t>
            </a:r>
            <a:r>
              <a:rPr sz="2000" dirty="0" smtClean="0">
                <a:sym typeface="Calibri"/>
              </a:rPr>
              <a:t> </a:t>
            </a:r>
            <a:r>
              <a:rPr sz="2000" dirty="0">
                <a:sym typeface="Calibri"/>
              </a:rPr>
              <a:t>paper “A Critical Study of Recent Deep Learning-Based Continuous Sign Language Recognition” present a comprehensive  review of SLR, focusing specifically on Deep Learning techniques. The researchers reviewed 32 studies published by major publishers and examined 12 benchmark datasets related to SLR.</a:t>
            </a:r>
          </a:p>
          <a:p>
            <a:pPr marL="342900" indent="-342900" algn="just" defTabSz="914377" eaLnBrk="1" fontAlgn="auto" hangingPunct="1">
              <a:spcBef>
                <a:spcPts val="0"/>
              </a:spcBef>
              <a:spcAft>
                <a:spcPts val="0"/>
              </a:spcAft>
              <a:buSzPct val="100000"/>
              <a:buFontTx/>
              <a:buAutoNum type="arabicPeriod" startAt="2"/>
              <a:defRPr sz="2000"/>
            </a:pPr>
            <a:endParaRPr sz="2000" dirty="0">
              <a:sym typeface="Calibri"/>
            </a:endParaRPr>
          </a:p>
          <a:p>
            <a:pPr marL="457200" indent="-457200" algn="just" defTabSz="914377" eaLnBrk="1" fontAlgn="auto" hangingPunct="1">
              <a:spcAft>
                <a:spcPts val="0"/>
              </a:spcAft>
              <a:buSzPct val="100000"/>
              <a:buFontTx/>
              <a:buAutoNum type="arabicPeriod" startAt="3"/>
              <a:defRPr sz="2000"/>
            </a:pPr>
            <a:r>
              <a:rPr sz="2000" dirty="0">
                <a:sym typeface="Calibri"/>
              </a:rPr>
              <a:t>Y. Zhang and X. Jiang in </a:t>
            </a:r>
            <a:r>
              <a:rPr sz="2000" dirty="0" smtClean="0">
                <a:sym typeface="Calibri"/>
              </a:rPr>
              <a:t>the</a:t>
            </a:r>
            <a:r>
              <a:rPr lang="en-US" sz="2000" dirty="0" smtClean="0">
                <a:sym typeface="Calibri"/>
              </a:rPr>
              <a:t>ir 2024</a:t>
            </a:r>
            <a:r>
              <a:rPr sz="2000" dirty="0" smtClean="0">
                <a:sym typeface="Calibri"/>
              </a:rPr>
              <a:t> </a:t>
            </a:r>
            <a:r>
              <a:rPr sz="2000" dirty="0">
                <a:sym typeface="Calibri"/>
              </a:rPr>
              <a:t>paper “Recent Advances on Deep Learning for Sign Language Recognition” present a comprehensive and up-to-date analysis of the advancements, challenges, and opportunities in deep learning-based sign language recognition, focusing on the past five years of research.</a:t>
            </a:r>
          </a:p>
        </p:txBody>
      </p:sp>
      <p:sp>
        <p:nvSpPr>
          <p:cNvPr id="11268" name="Slide Number Placeholder 1"/>
          <p:cNvSpPr>
            <a:spLocks noGrp="1" noChangeArrowheads="1"/>
          </p:cNvSpPr>
          <p:nvPr>
            <p:ph type="sldNum" sz="quarter" idx="22"/>
          </p:nvPr>
        </p:nvSpPr>
        <p:spPr>
          <a:xfrm>
            <a:off x="8334375" y="6415088"/>
            <a:ext cx="180975" cy="247650"/>
          </a:xfrm>
          <a:noFill/>
        </p:spPr>
        <p:txBody>
          <a:bodyPr/>
          <a:lstStyle/>
          <a:p>
            <a:fld id="{46DC8DCD-8611-4C1B-A085-B412C86E24D9}" type="slidenum">
              <a:rPr lang="en-US"/>
              <a:pPr/>
              <a:t>5</a:t>
            </a:fld>
            <a:endParaRPr lang="en-US"/>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Content Placeholder 5"/>
          <p:cNvSpPr txBox="1">
            <a:spLocks noGrp="1"/>
          </p:cNvSpPr>
          <p:nvPr>
            <p:ph type="body" idx="1"/>
          </p:nvPr>
        </p:nvSpPr>
        <p:spPr>
          <a:xfrm>
            <a:off x="628650" y="1357313"/>
            <a:ext cx="7886700" cy="2962275"/>
          </a:xfrm>
        </p:spPr>
        <p:txBody>
          <a:bodyPr>
            <a:normAutofit/>
          </a:bodyPr>
          <a:lstStyle/>
          <a:p>
            <a:pPr marL="0" indent="0" algn="just" defTabSz="905233" eaLnBrk="1" fontAlgn="auto" hangingPunct="1">
              <a:lnSpc>
                <a:spcPct val="72000"/>
              </a:lnSpc>
              <a:spcBef>
                <a:spcPts val="900"/>
              </a:spcBef>
              <a:spcAft>
                <a:spcPts val="0"/>
              </a:spcAft>
              <a:buSzTx/>
              <a:buFont typeface="Arial"/>
              <a:buNone/>
              <a:defRPr sz="2475"/>
            </a:pPr>
            <a:r>
              <a:rPr sz="2475">
                <a:sym typeface="Calibri"/>
              </a:rPr>
              <a:t>Studying the related literature allowed us to:</a:t>
            </a:r>
          </a:p>
          <a:p>
            <a:pPr marL="226308" indent="-226308" algn="just" defTabSz="905233" eaLnBrk="1" fontAlgn="auto" hangingPunct="1">
              <a:lnSpc>
                <a:spcPct val="72000"/>
              </a:lnSpc>
              <a:spcBef>
                <a:spcPts val="900"/>
              </a:spcBef>
              <a:spcAft>
                <a:spcPts val="0"/>
              </a:spcAft>
              <a:buFont typeface="Arial"/>
              <a:buChar char="•"/>
              <a:defRPr sz="2475"/>
            </a:pPr>
            <a:r>
              <a:rPr sz="2475">
                <a:sym typeface="Calibri"/>
              </a:rPr>
              <a:t>Understand concept and inner workings of SLR.</a:t>
            </a:r>
          </a:p>
          <a:p>
            <a:pPr marL="226308" indent="-226308" algn="just" defTabSz="905233" eaLnBrk="1" fontAlgn="auto" hangingPunct="1">
              <a:lnSpc>
                <a:spcPct val="72000"/>
              </a:lnSpc>
              <a:spcBef>
                <a:spcPts val="900"/>
              </a:spcBef>
              <a:spcAft>
                <a:spcPts val="0"/>
              </a:spcAft>
              <a:buFont typeface="Arial"/>
              <a:buChar char="•"/>
              <a:defRPr sz="2475"/>
            </a:pPr>
            <a:r>
              <a:rPr sz="2475">
                <a:sym typeface="Calibri"/>
              </a:rPr>
              <a:t>Learn the architecture of SLR and all of the steps a CNN model would have to perform for SLR.</a:t>
            </a:r>
          </a:p>
          <a:p>
            <a:pPr marL="226308" indent="-226308" algn="just" defTabSz="905233" eaLnBrk="1" fontAlgn="auto" hangingPunct="1">
              <a:lnSpc>
                <a:spcPct val="72000"/>
              </a:lnSpc>
              <a:spcBef>
                <a:spcPts val="900"/>
              </a:spcBef>
              <a:spcAft>
                <a:spcPts val="0"/>
              </a:spcAft>
              <a:buFont typeface="Arial"/>
              <a:buChar char="•"/>
              <a:defRPr sz="2475"/>
            </a:pPr>
            <a:r>
              <a:rPr sz="2475">
                <a:sym typeface="Calibri"/>
              </a:rPr>
              <a:t>Learn different algorithms and techniques that can be used at each step.</a:t>
            </a:r>
          </a:p>
          <a:p>
            <a:pPr marL="226308" indent="-226308" algn="just" defTabSz="905233" eaLnBrk="1" fontAlgn="auto" hangingPunct="1">
              <a:lnSpc>
                <a:spcPct val="72000"/>
              </a:lnSpc>
              <a:spcBef>
                <a:spcPts val="900"/>
              </a:spcBef>
              <a:spcAft>
                <a:spcPts val="0"/>
              </a:spcAft>
              <a:buFont typeface="Arial"/>
              <a:buChar char="•"/>
              <a:defRPr sz="2475"/>
            </a:pPr>
            <a:r>
              <a:rPr sz="2475">
                <a:sym typeface="Calibri"/>
              </a:rPr>
              <a:t>Learn the challenges that SLR faces and possible solutions to them.</a:t>
            </a:r>
          </a:p>
        </p:txBody>
      </p:sp>
      <p:sp>
        <p:nvSpPr>
          <p:cNvPr id="12290" name="Slide Number Placeholder 2"/>
          <p:cNvSpPr>
            <a:spLocks noGrp="1" noChangeArrowheads="1"/>
          </p:cNvSpPr>
          <p:nvPr>
            <p:ph type="sldNum" sz="quarter" idx="10"/>
          </p:nvPr>
        </p:nvSpPr>
        <p:spPr>
          <a:xfrm>
            <a:off x="8334375" y="6415088"/>
            <a:ext cx="180975" cy="247650"/>
          </a:xfrm>
          <a:noFill/>
        </p:spPr>
        <p:txBody>
          <a:bodyPr/>
          <a:lstStyle/>
          <a:p>
            <a:fld id="{68A679CD-383A-4471-BA48-03C9D06CC546}" type="slidenum">
              <a:rPr lang="en-US"/>
              <a:pPr/>
              <a:t>6</a:t>
            </a:fld>
            <a:endParaRPr lang="en-US"/>
          </a:p>
        </p:txBody>
      </p:sp>
      <p:sp>
        <p:nvSpPr>
          <p:cNvPr id="12292"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LITERATURE REVIEW RESULTS</a:t>
            </a:r>
          </a:p>
        </p:txBody>
      </p:sp>
      <p:pic>
        <p:nvPicPr>
          <p:cNvPr id="12293" name="Picture 2" descr="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975" y="4319588"/>
            <a:ext cx="5078413"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3"/>
          <p:cNvSpPr txBox="1">
            <a:spLocks noGrp="1" noChangeArrowheads="1"/>
          </p:cNvSpPr>
          <p:nvPr>
            <p:ph type="body" sz="quarter" idx="1"/>
          </p:nvPr>
        </p:nvSpPr>
        <p:spPr>
          <a:xfrm>
            <a:off x="630238" y="1128713"/>
            <a:ext cx="7942262" cy="4978400"/>
          </a:xfrm>
        </p:spPr>
        <p:txBody>
          <a:bodyPr/>
          <a:lstStyle>
            <a:lvl1pPr>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eaLnBrk="1" hangingPunct="1"/>
            <a:endParaRPr lang="en-US" sz="1600" smtClean="0"/>
          </a:p>
        </p:txBody>
      </p:sp>
      <p:sp>
        <p:nvSpPr>
          <p:cNvPr id="13317" name="Slide Number Placeholder 1"/>
          <p:cNvSpPr>
            <a:spLocks noGrp="1" noChangeArrowheads="1"/>
          </p:cNvSpPr>
          <p:nvPr>
            <p:ph type="sldNum" sz="quarter" idx="22"/>
          </p:nvPr>
        </p:nvSpPr>
        <p:spPr>
          <a:xfrm>
            <a:off x="8334375" y="6415088"/>
            <a:ext cx="180975" cy="247650"/>
          </a:xfrm>
          <a:noFill/>
        </p:spPr>
        <p:txBody>
          <a:bodyPr/>
          <a:lstStyle/>
          <a:p>
            <a:fld id="{429E924B-4712-457C-BA37-AB94633DB92E}" type="slidenum">
              <a:rPr lang="en-US"/>
              <a:pPr/>
              <a:t>7</a:t>
            </a:fld>
            <a:endParaRPr lang="en-US"/>
          </a:p>
        </p:txBody>
      </p:sp>
      <p:sp>
        <p:nvSpPr>
          <p:cNvPr id="13315"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a:solidFill>
                  <a:srgbClr val="FFFFFF"/>
                </a:solidFill>
              </a:rPr>
              <a:t>ALGORITHM/APPROACH/METHODOLOGY</a:t>
            </a:r>
          </a:p>
        </p:txBody>
      </p:sp>
      <p:grpSp>
        <p:nvGrpSpPr>
          <p:cNvPr id="13316" name="Content Placeholder 2"/>
          <p:cNvGrpSpPr>
            <a:grpSpLocks/>
          </p:cNvGrpSpPr>
          <p:nvPr/>
        </p:nvGrpSpPr>
        <p:grpSpPr bwMode="auto">
          <a:xfrm>
            <a:off x="628650" y="1062532"/>
            <a:ext cx="7885115" cy="5128719"/>
            <a:chOff x="0" y="227450"/>
            <a:chExt cx="7885510" cy="5127421"/>
          </a:xfrm>
        </p:grpSpPr>
        <p:grpSp>
          <p:nvGrpSpPr>
            <p:cNvPr id="13318" name="Group"/>
            <p:cNvGrpSpPr>
              <a:grpSpLocks/>
            </p:cNvGrpSpPr>
            <p:nvPr/>
          </p:nvGrpSpPr>
          <p:grpSpPr bwMode="auto">
            <a:xfrm>
              <a:off x="0" y="4691466"/>
              <a:ext cx="1971378" cy="577293"/>
              <a:chOff x="0" y="0"/>
              <a:chExt cx="1971376" cy="577291"/>
            </a:xfrm>
          </p:grpSpPr>
          <p:sp>
            <p:nvSpPr>
              <p:cNvPr id="13352" name="Rectangle"/>
              <p:cNvSpPr>
                <a:spLocks noChangeArrowheads="1"/>
              </p:cNvSpPr>
              <p:nvPr/>
            </p:nvSpPr>
            <p:spPr bwMode="auto">
              <a:xfrm>
                <a:off x="0" y="0"/>
                <a:ext cx="1971377" cy="577292"/>
              </a:xfrm>
              <a:prstGeom prst="rect">
                <a:avLst/>
              </a:prstGeom>
              <a:solidFill>
                <a:schemeClr val="accent2"/>
              </a:solidFill>
              <a:ln w="12700">
                <a:solidFill>
                  <a:schemeClr val="accent2"/>
                </a:solidFill>
                <a:miter lim="800000"/>
                <a:headEnd/>
                <a:tailEnd/>
              </a:ln>
            </p:spPr>
            <p:txBody>
              <a:bodyPr lIns="45719" tIns="45719" rIns="45719" bIns="45719" anchor="ctr"/>
              <a:lstStyle/>
              <a:p>
                <a:pPr algn="ctr" defTabSz="889000" eaLnBrk="1">
                  <a:lnSpc>
                    <a:spcPct val="90000"/>
                  </a:lnSpc>
                  <a:spcBef>
                    <a:spcPts val="1300"/>
                  </a:spcBef>
                </a:pPr>
                <a:endParaRPr lang="en-US" sz="3200">
                  <a:solidFill>
                    <a:srgbClr val="FFFFFF"/>
                  </a:solidFill>
                </a:endParaRPr>
              </a:p>
            </p:txBody>
          </p:sp>
          <p:sp>
            <p:nvSpPr>
              <p:cNvPr id="13353" name="Step 6"/>
              <p:cNvSpPr txBox="1">
                <a:spLocks noChangeArrowheads="1"/>
              </p:cNvSpPr>
              <p:nvPr/>
            </p:nvSpPr>
            <p:spPr bwMode="auto">
              <a:xfrm>
                <a:off x="0" y="24071"/>
                <a:ext cx="1971377" cy="5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6</a:t>
                </a:r>
              </a:p>
            </p:txBody>
          </p:sp>
        </p:grpSp>
        <p:grpSp>
          <p:nvGrpSpPr>
            <p:cNvPr id="13319" name="Group"/>
            <p:cNvGrpSpPr>
              <a:grpSpLocks/>
            </p:cNvGrpSpPr>
            <p:nvPr/>
          </p:nvGrpSpPr>
          <p:grpSpPr bwMode="auto">
            <a:xfrm>
              <a:off x="1971376" y="4605354"/>
              <a:ext cx="5914133" cy="749517"/>
              <a:chOff x="0" y="0"/>
              <a:chExt cx="5914131" cy="749516"/>
            </a:xfrm>
          </p:grpSpPr>
          <p:sp>
            <p:nvSpPr>
              <p:cNvPr id="13350" name="Rectangle"/>
              <p:cNvSpPr>
                <a:spLocks noChangeArrowheads="1"/>
              </p:cNvSpPr>
              <p:nvPr/>
            </p:nvSpPr>
            <p:spPr bwMode="auto">
              <a:xfrm>
                <a:off x="0" y="86112"/>
                <a:ext cx="5914132" cy="577293"/>
              </a:xfrm>
              <a:prstGeom prst="rect">
                <a:avLst/>
              </a:prstGeom>
              <a:solidFill>
                <a:srgbClr val="F8D6CC">
                  <a:alpha val="90195"/>
                </a:srgbClr>
              </a:solidFill>
              <a:ln w="12700">
                <a:solidFill>
                  <a:srgbClr val="F8D6CC">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51" name="Test and tune the parameters of the CNN to achieve the optimal accuracy."/>
              <p:cNvSpPr txBox="1">
                <a:spLocks noChangeArrowheads="1"/>
              </p:cNvSpPr>
              <p:nvPr/>
            </p:nvSpPr>
            <p:spPr bwMode="auto">
              <a:xfrm>
                <a:off x="0" y="-1"/>
                <a:ext cx="5914131" cy="74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a:t>Test and tune the parameters of the CNN to achieve the optimal accuracy.</a:t>
                </a:r>
              </a:p>
            </p:txBody>
          </p:sp>
        </p:grpSp>
        <p:grpSp>
          <p:nvGrpSpPr>
            <p:cNvPr id="13320" name="Group"/>
            <p:cNvGrpSpPr>
              <a:grpSpLocks/>
            </p:cNvGrpSpPr>
            <p:nvPr/>
          </p:nvGrpSpPr>
          <p:grpSpPr bwMode="auto">
            <a:xfrm>
              <a:off x="0" y="3812250"/>
              <a:ext cx="1971378" cy="887876"/>
              <a:chOff x="0" y="0"/>
              <a:chExt cx="1971376" cy="887875"/>
            </a:xfrm>
          </p:grpSpPr>
          <p:sp>
            <p:nvSpPr>
              <p:cNvPr id="106" name="Shape"/>
              <p:cNvSpPr/>
              <p:nvPr/>
            </p:nvSpPr>
            <p:spPr>
              <a:xfrm rot="10800000">
                <a:off x="0" y="-40"/>
                <a:ext cx="1971772" cy="887187"/>
              </a:xfrm>
              <a:custGeom>
                <a:avLst/>
                <a:gdLst/>
                <a:ahLst/>
                <a:cxnLst>
                  <a:cxn ang="0">
                    <a:pos x="wd2" y="hd2"/>
                  </a:cxn>
                  <a:cxn ang="5400000">
                    <a:pos x="wd2" y="hd2"/>
                  </a:cxn>
                  <a:cxn ang="10800000">
                    <a:pos x="wd2" y="hd2"/>
                  </a:cxn>
                  <a:cxn ang="16200000">
                    <a:pos x="wd2" y="hd2"/>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close/>
                  </a:path>
                </a:pathLst>
              </a:custGeom>
              <a:solidFill>
                <a:schemeClr val="accent3"/>
              </a:solidFill>
              <a:ln w="12700" cap="flat">
                <a:solidFill>
                  <a:schemeClr val="accent3"/>
                </a:solidFill>
                <a:prstDash val="solid"/>
                <a:miter lim="800000"/>
              </a:ln>
              <a:effectLst/>
            </p:spPr>
            <p:txBody>
              <a:bodyPr lIns="45719" tIns="45719" rIns="45719" bIns="45719" anchor="ctr"/>
              <a:lstStyle/>
              <a:p>
                <a:pPr algn="ctr" defTabSz="889000" eaLnBrk="1" fontAlgn="auto">
                  <a:lnSpc>
                    <a:spcPct val="90000"/>
                  </a:lnSpc>
                  <a:spcBef>
                    <a:spcPts val="1300"/>
                  </a:spcBef>
                  <a:spcAft>
                    <a:spcPts val="0"/>
                  </a:spcAft>
                  <a:defRPr sz="3200">
                    <a:solidFill>
                      <a:srgbClr val="FFFFFF"/>
                    </a:solidFill>
                  </a:defRPr>
                </a:pPr>
                <a:endParaRPr sz="3200" kern="0">
                  <a:solidFill>
                    <a:srgbClr val="FFFFFF"/>
                  </a:solidFill>
                  <a:latin typeface="+mj-lt"/>
                  <a:ea typeface="+mj-ea"/>
                  <a:cs typeface="+mj-cs"/>
                  <a:sym typeface="Calibri"/>
                </a:endParaRPr>
              </a:p>
            </p:txBody>
          </p:sp>
          <p:sp>
            <p:nvSpPr>
              <p:cNvPr id="13349" name="Step 5"/>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5</a:t>
                </a:r>
              </a:p>
            </p:txBody>
          </p:sp>
        </p:grpSp>
        <p:grpSp>
          <p:nvGrpSpPr>
            <p:cNvPr id="13321" name="Group"/>
            <p:cNvGrpSpPr>
              <a:grpSpLocks/>
            </p:cNvGrpSpPr>
            <p:nvPr/>
          </p:nvGrpSpPr>
          <p:grpSpPr bwMode="auto">
            <a:xfrm>
              <a:off x="1971376" y="3726051"/>
              <a:ext cx="5914133" cy="749518"/>
              <a:chOff x="0" y="0"/>
              <a:chExt cx="5914131" cy="749516"/>
            </a:xfrm>
          </p:grpSpPr>
          <p:sp>
            <p:nvSpPr>
              <p:cNvPr id="13346" name="Rectangle"/>
              <p:cNvSpPr>
                <a:spLocks noChangeArrowheads="1"/>
              </p:cNvSpPr>
              <p:nvPr/>
            </p:nvSpPr>
            <p:spPr bwMode="auto">
              <a:xfrm>
                <a:off x="0" y="86198"/>
                <a:ext cx="5914132" cy="577120"/>
              </a:xfrm>
              <a:prstGeom prst="rect">
                <a:avLst/>
              </a:prstGeom>
              <a:solidFill>
                <a:srgbClr val="E0E0E0">
                  <a:alpha val="90195"/>
                </a:srgbClr>
              </a:solidFill>
              <a:ln w="12700">
                <a:solidFill>
                  <a:srgbClr val="E0E0E0">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47" name="Train the Fully-connected layer of the model using the MNIST Sign Language dataset."/>
              <p:cNvSpPr txBox="1">
                <a:spLocks noChangeArrowheads="1"/>
              </p:cNvSpPr>
              <p:nvPr/>
            </p:nvSpPr>
            <p:spPr bwMode="auto">
              <a:xfrm>
                <a:off x="0" y="-1"/>
                <a:ext cx="5914131" cy="74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a:t>Train the Fully-connected layer of the model using the MNIST Sign Language dataset.</a:t>
                </a:r>
              </a:p>
            </p:txBody>
          </p:sp>
        </p:grpSp>
        <p:grpSp>
          <p:nvGrpSpPr>
            <p:cNvPr id="13322" name="Group"/>
            <p:cNvGrpSpPr>
              <a:grpSpLocks/>
            </p:cNvGrpSpPr>
            <p:nvPr/>
          </p:nvGrpSpPr>
          <p:grpSpPr bwMode="auto">
            <a:xfrm>
              <a:off x="0" y="2933034"/>
              <a:ext cx="1971378" cy="887876"/>
              <a:chOff x="0" y="0"/>
              <a:chExt cx="1971376" cy="887875"/>
            </a:xfrm>
          </p:grpSpPr>
          <p:sp>
            <p:nvSpPr>
              <p:cNvPr id="112" name="Shape"/>
              <p:cNvSpPr/>
              <p:nvPr/>
            </p:nvSpPr>
            <p:spPr>
              <a:xfrm rot="10800000">
                <a:off x="0" y="-76"/>
                <a:ext cx="1971772" cy="887187"/>
              </a:xfrm>
              <a:custGeom>
                <a:avLst/>
                <a:gdLst/>
                <a:ahLst/>
                <a:cxnLst>
                  <a:cxn ang="0">
                    <a:pos x="wd2" y="hd2"/>
                  </a:cxn>
                  <a:cxn ang="5400000">
                    <a:pos x="wd2" y="hd2"/>
                  </a:cxn>
                  <a:cxn ang="10800000">
                    <a:pos x="wd2" y="hd2"/>
                  </a:cxn>
                  <a:cxn ang="16200000">
                    <a:pos x="wd2" y="hd2"/>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close/>
                  </a:path>
                </a:pathLst>
              </a:custGeom>
              <a:solidFill>
                <a:schemeClr val="accent4"/>
              </a:solidFill>
              <a:ln w="12700" cap="flat">
                <a:solidFill>
                  <a:schemeClr val="accent4"/>
                </a:solidFill>
                <a:prstDash val="solid"/>
                <a:miter lim="800000"/>
              </a:ln>
              <a:effectLst/>
            </p:spPr>
            <p:txBody>
              <a:bodyPr lIns="45719" tIns="45719" rIns="45719" bIns="45719" anchor="ctr"/>
              <a:lstStyle/>
              <a:p>
                <a:pPr algn="ctr" defTabSz="889000" eaLnBrk="1" fontAlgn="auto">
                  <a:lnSpc>
                    <a:spcPct val="90000"/>
                  </a:lnSpc>
                  <a:spcBef>
                    <a:spcPts val="1300"/>
                  </a:spcBef>
                  <a:spcAft>
                    <a:spcPts val="0"/>
                  </a:spcAft>
                  <a:defRPr sz="3200">
                    <a:solidFill>
                      <a:srgbClr val="FFFFFF"/>
                    </a:solidFill>
                  </a:defRPr>
                </a:pPr>
                <a:endParaRPr sz="3200" kern="0">
                  <a:solidFill>
                    <a:srgbClr val="FFFFFF"/>
                  </a:solidFill>
                  <a:latin typeface="+mj-lt"/>
                  <a:ea typeface="+mj-ea"/>
                  <a:cs typeface="+mj-cs"/>
                  <a:sym typeface="Calibri"/>
                </a:endParaRPr>
              </a:p>
            </p:txBody>
          </p:sp>
          <p:sp>
            <p:nvSpPr>
              <p:cNvPr id="13345" name="Step 4"/>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4</a:t>
                </a:r>
              </a:p>
            </p:txBody>
          </p:sp>
        </p:grpSp>
        <p:grpSp>
          <p:nvGrpSpPr>
            <p:cNvPr id="13323" name="Group"/>
            <p:cNvGrpSpPr>
              <a:grpSpLocks/>
            </p:cNvGrpSpPr>
            <p:nvPr/>
          </p:nvGrpSpPr>
          <p:grpSpPr bwMode="auto">
            <a:xfrm>
              <a:off x="1971376" y="2846835"/>
              <a:ext cx="5914133" cy="749518"/>
              <a:chOff x="0" y="0"/>
              <a:chExt cx="5914131" cy="749516"/>
            </a:xfrm>
          </p:grpSpPr>
          <p:sp>
            <p:nvSpPr>
              <p:cNvPr id="13342" name="Rectangle"/>
              <p:cNvSpPr>
                <a:spLocks noChangeArrowheads="1"/>
              </p:cNvSpPr>
              <p:nvPr/>
            </p:nvSpPr>
            <p:spPr bwMode="auto">
              <a:xfrm>
                <a:off x="0" y="86198"/>
                <a:ext cx="5914132" cy="577120"/>
              </a:xfrm>
              <a:prstGeom prst="rect">
                <a:avLst/>
              </a:prstGeom>
              <a:solidFill>
                <a:srgbClr val="FFE8CA">
                  <a:alpha val="90195"/>
                </a:srgbClr>
              </a:solidFill>
              <a:ln w="12700">
                <a:solidFill>
                  <a:srgbClr val="FFE8CA">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43" name="Reduce the size of the image in the Pooling layer to make the model more efficient."/>
              <p:cNvSpPr txBox="1">
                <a:spLocks noChangeArrowheads="1"/>
              </p:cNvSpPr>
              <p:nvPr/>
            </p:nvSpPr>
            <p:spPr bwMode="auto">
              <a:xfrm>
                <a:off x="0" y="-1"/>
                <a:ext cx="5914131" cy="74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a:t>Reduce the size of the image in the Pooling layer to make the model more efficient.</a:t>
                </a:r>
              </a:p>
            </p:txBody>
          </p:sp>
        </p:grpSp>
        <p:grpSp>
          <p:nvGrpSpPr>
            <p:cNvPr id="13324" name="Group"/>
            <p:cNvGrpSpPr>
              <a:grpSpLocks/>
            </p:cNvGrpSpPr>
            <p:nvPr/>
          </p:nvGrpSpPr>
          <p:grpSpPr bwMode="auto">
            <a:xfrm>
              <a:off x="0" y="2053818"/>
              <a:ext cx="1971378" cy="887876"/>
              <a:chOff x="0" y="0"/>
              <a:chExt cx="1971376" cy="887875"/>
            </a:xfrm>
          </p:grpSpPr>
          <p:sp>
            <p:nvSpPr>
              <p:cNvPr id="118" name="Shape"/>
              <p:cNvSpPr/>
              <p:nvPr/>
            </p:nvSpPr>
            <p:spPr>
              <a:xfrm rot="10800000">
                <a:off x="0" y="-113"/>
                <a:ext cx="1971772" cy="888774"/>
              </a:xfrm>
              <a:custGeom>
                <a:avLst/>
                <a:gdLst/>
                <a:ahLst/>
                <a:cxnLst>
                  <a:cxn ang="0">
                    <a:pos x="wd2" y="hd2"/>
                  </a:cxn>
                  <a:cxn ang="5400000">
                    <a:pos x="wd2" y="hd2"/>
                  </a:cxn>
                  <a:cxn ang="10800000">
                    <a:pos x="wd2" y="hd2"/>
                  </a:cxn>
                  <a:cxn ang="16200000">
                    <a:pos x="wd2" y="hd2"/>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close/>
                  </a:path>
                </a:pathLst>
              </a:custGeom>
              <a:solidFill>
                <a:schemeClr val="accent5"/>
              </a:solidFill>
              <a:ln w="12700" cap="flat">
                <a:solidFill>
                  <a:schemeClr val="accent5"/>
                </a:solidFill>
                <a:prstDash val="solid"/>
                <a:miter lim="800000"/>
              </a:ln>
              <a:effectLst/>
            </p:spPr>
            <p:txBody>
              <a:bodyPr lIns="45719" tIns="45719" rIns="45719" bIns="45719" anchor="ctr"/>
              <a:lstStyle/>
              <a:p>
                <a:pPr algn="ctr" defTabSz="889000" eaLnBrk="1" fontAlgn="auto">
                  <a:lnSpc>
                    <a:spcPct val="90000"/>
                  </a:lnSpc>
                  <a:spcBef>
                    <a:spcPts val="1300"/>
                  </a:spcBef>
                  <a:spcAft>
                    <a:spcPts val="0"/>
                  </a:spcAft>
                  <a:defRPr sz="3200">
                    <a:solidFill>
                      <a:srgbClr val="FFFFFF"/>
                    </a:solidFill>
                  </a:defRPr>
                </a:pPr>
                <a:endParaRPr sz="3200" kern="0">
                  <a:solidFill>
                    <a:srgbClr val="FFFFFF"/>
                  </a:solidFill>
                  <a:latin typeface="+mj-lt"/>
                  <a:ea typeface="+mj-ea"/>
                  <a:cs typeface="+mj-cs"/>
                  <a:sym typeface="Calibri"/>
                </a:endParaRPr>
              </a:p>
            </p:txBody>
          </p:sp>
          <p:sp>
            <p:nvSpPr>
              <p:cNvPr id="13341" name="Step 3"/>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3</a:t>
                </a:r>
              </a:p>
            </p:txBody>
          </p:sp>
        </p:grpSp>
        <p:grpSp>
          <p:nvGrpSpPr>
            <p:cNvPr id="13325" name="Group"/>
            <p:cNvGrpSpPr>
              <a:grpSpLocks/>
            </p:cNvGrpSpPr>
            <p:nvPr/>
          </p:nvGrpSpPr>
          <p:grpSpPr bwMode="auto">
            <a:xfrm>
              <a:off x="1971376" y="2053818"/>
              <a:ext cx="5914133" cy="577120"/>
              <a:chOff x="0" y="0"/>
              <a:chExt cx="5914131" cy="577118"/>
            </a:xfrm>
          </p:grpSpPr>
          <p:sp>
            <p:nvSpPr>
              <p:cNvPr id="13338" name="Rectangle"/>
              <p:cNvSpPr>
                <a:spLocks noChangeArrowheads="1"/>
              </p:cNvSpPr>
              <p:nvPr/>
            </p:nvSpPr>
            <p:spPr bwMode="auto">
              <a:xfrm>
                <a:off x="-1" y="0"/>
                <a:ext cx="5914133" cy="577119"/>
              </a:xfrm>
              <a:prstGeom prst="rect">
                <a:avLst/>
              </a:prstGeom>
              <a:solidFill>
                <a:srgbClr val="D0DEEF">
                  <a:alpha val="90195"/>
                </a:srgbClr>
              </a:solidFill>
              <a:ln w="12700">
                <a:solidFill>
                  <a:srgbClr val="D0DEEF">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39" name="Extract important features out of the images."/>
              <p:cNvSpPr txBox="1">
                <a:spLocks noChangeArrowheads="1"/>
              </p:cNvSpPr>
              <p:nvPr/>
            </p:nvSpPr>
            <p:spPr bwMode="auto">
              <a:xfrm>
                <a:off x="0" y="47768"/>
                <a:ext cx="5914131" cy="48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a:t>Extract important features out of the images.</a:t>
                </a:r>
              </a:p>
            </p:txBody>
          </p:sp>
        </p:grpSp>
        <p:grpSp>
          <p:nvGrpSpPr>
            <p:cNvPr id="13326" name="Group"/>
            <p:cNvGrpSpPr>
              <a:grpSpLocks/>
            </p:cNvGrpSpPr>
            <p:nvPr/>
          </p:nvGrpSpPr>
          <p:grpSpPr bwMode="auto">
            <a:xfrm>
              <a:off x="0" y="1174601"/>
              <a:ext cx="1971378" cy="887876"/>
              <a:chOff x="0" y="0"/>
              <a:chExt cx="1971376" cy="887875"/>
            </a:xfrm>
          </p:grpSpPr>
          <p:sp>
            <p:nvSpPr>
              <p:cNvPr id="124" name="Shape"/>
              <p:cNvSpPr/>
              <p:nvPr/>
            </p:nvSpPr>
            <p:spPr>
              <a:xfrm rot="10800000">
                <a:off x="0" y="-148"/>
                <a:ext cx="1971772" cy="888774"/>
              </a:xfrm>
              <a:custGeom>
                <a:avLst/>
                <a:gdLst/>
                <a:ahLst/>
                <a:cxnLst>
                  <a:cxn ang="0">
                    <a:pos x="wd2" y="hd2"/>
                  </a:cxn>
                  <a:cxn ang="5400000">
                    <a:pos x="wd2" y="hd2"/>
                  </a:cxn>
                  <a:cxn ang="10800000">
                    <a:pos x="wd2" y="hd2"/>
                  </a:cxn>
                  <a:cxn ang="16200000">
                    <a:pos x="wd2" y="hd2"/>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close/>
                  </a:path>
                </a:pathLst>
              </a:custGeom>
              <a:solidFill>
                <a:schemeClr val="accent6"/>
              </a:solidFill>
              <a:ln w="12700" cap="flat">
                <a:solidFill>
                  <a:schemeClr val="accent6"/>
                </a:solidFill>
                <a:prstDash val="solid"/>
                <a:miter lim="800000"/>
              </a:ln>
              <a:effectLst/>
            </p:spPr>
            <p:txBody>
              <a:bodyPr lIns="45719" tIns="45719" rIns="45719" bIns="45719" anchor="ctr"/>
              <a:lstStyle/>
              <a:p>
                <a:pPr algn="ctr" defTabSz="889000" eaLnBrk="1" fontAlgn="auto">
                  <a:lnSpc>
                    <a:spcPct val="90000"/>
                  </a:lnSpc>
                  <a:spcBef>
                    <a:spcPts val="1300"/>
                  </a:spcBef>
                  <a:spcAft>
                    <a:spcPts val="0"/>
                  </a:spcAft>
                  <a:defRPr sz="3200">
                    <a:solidFill>
                      <a:srgbClr val="FFFFFF"/>
                    </a:solidFill>
                  </a:defRPr>
                </a:pPr>
                <a:endParaRPr sz="3200" kern="0">
                  <a:solidFill>
                    <a:srgbClr val="FFFFFF"/>
                  </a:solidFill>
                  <a:latin typeface="+mj-lt"/>
                  <a:ea typeface="+mj-ea"/>
                  <a:cs typeface="+mj-cs"/>
                  <a:sym typeface="Calibri"/>
                </a:endParaRPr>
              </a:p>
            </p:txBody>
          </p:sp>
          <p:sp>
            <p:nvSpPr>
              <p:cNvPr id="13337" name="Step 2"/>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2</a:t>
                </a:r>
              </a:p>
            </p:txBody>
          </p:sp>
        </p:grpSp>
        <p:grpSp>
          <p:nvGrpSpPr>
            <p:cNvPr id="13327" name="Group"/>
            <p:cNvGrpSpPr>
              <a:grpSpLocks/>
            </p:cNvGrpSpPr>
            <p:nvPr/>
          </p:nvGrpSpPr>
          <p:grpSpPr bwMode="auto">
            <a:xfrm>
              <a:off x="1971376" y="1088402"/>
              <a:ext cx="5914133" cy="749518"/>
              <a:chOff x="0" y="0"/>
              <a:chExt cx="5914131" cy="749516"/>
            </a:xfrm>
          </p:grpSpPr>
          <p:sp>
            <p:nvSpPr>
              <p:cNvPr id="13334" name="Rectangle"/>
              <p:cNvSpPr>
                <a:spLocks noChangeArrowheads="1"/>
              </p:cNvSpPr>
              <p:nvPr/>
            </p:nvSpPr>
            <p:spPr bwMode="auto">
              <a:xfrm>
                <a:off x="0" y="86198"/>
                <a:ext cx="5914132" cy="577120"/>
              </a:xfrm>
              <a:prstGeom prst="rect">
                <a:avLst/>
              </a:prstGeom>
              <a:solidFill>
                <a:srgbClr val="D4E2CE">
                  <a:alpha val="90195"/>
                </a:srgbClr>
              </a:solidFill>
              <a:ln w="12700">
                <a:solidFill>
                  <a:srgbClr val="D4E2CE">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35" name="Use filters, padding, and smoothing to eliminate noise and improve image quality."/>
              <p:cNvSpPr txBox="1">
                <a:spLocks noChangeArrowheads="1"/>
              </p:cNvSpPr>
              <p:nvPr/>
            </p:nvSpPr>
            <p:spPr bwMode="auto">
              <a:xfrm>
                <a:off x="0" y="-1"/>
                <a:ext cx="5914131" cy="74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a:t>Use filters, padding, and smoothing to eliminate noise and improve image quality.</a:t>
                </a:r>
              </a:p>
            </p:txBody>
          </p:sp>
        </p:grpSp>
        <p:grpSp>
          <p:nvGrpSpPr>
            <p:cNvPr id="13328" name="Group"/>
            <p:cNvGrpSpPr>
              <a:grpSpLocks/>
            </p:cNvGrpSpPr>
            <p:nvPr/>
          </p:nvGrpSpPr>
          <p:grpSpPr bwMode="auto">
            <a:xfrm>
              <a:off x="0" y="295385"/>
              <a:ext cx="1971378" cy="887876"/>
              <a:chOff x="0" y="0"/>
              <a:chExt cx="1971376" cy="887875"/>
            </a:xfrm>
          </p:grpSpPr>
          <p:sp>
            <p:nvSpPr>
              <p:cNvPr id="13332" name="Shape"/>
              <p:cNvSpPr>
                <a:spLocks/>
              </p:cNvSpPr>
              <p:nvPr/>
            </p:nvSpPr>
            <p:spPr bwMode="auto">
              <a:xfrm rot="10800000">
                <a:off x="0" y="-1"/>
                <a:ext cx="1971378" cy="887876"/>
              </a:xfrm>
              <a:custGeom>
                <a:avLst/>
                <a:gdLst>
                  <a:gd name="T0" fmla="*/ 985689 w 21600"/>
                  <a:gd name="T1" fmla="*/ 443938 h 21600"/>
                  <a:gd name="T2" fmla="*/ 985689 w 21600"/>
                  <a:gd name="T3" fmla="*/ 443938 h 21600"/>
                  <a:gd name="T4" fmla="*/ 985689 w 21600"/>
                  <a:gd name="T5" fmla="*/ 443938 h 21600"/>
                  <a:gd name="T6" fmla="*/ 985689 w 21600"/>
                  <a:gd name="T7" fmla="*/ 443938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lnTo>
                      <a:pt x="0" y="7565"/>
                    </a:lnTo>
                    <a:close/>
                  </a:path>
                </a:pathLst>
              </a:custGeom>
              <a:solidFill>
                <a:schemeClr val="accent2"/>
              </a:solidFill>
              <a:ln w="12700" cap="flat">
                <a:solidFill>
                  <a:schemeClr val="accent2"/>
                </a:solidFill>
                <a:prstDash val="solid"/>
                <a:miter lim="800000"/>
                <a:headEnd/>
                <a:tailEnd/>
              </a:ln>
            </p:spPr>
            <p:txBody>
              <a:bodyPr lIns="45719" tIns="45719" rIns="45719" bIns="45719" anchor="ctr"/>
              <a:lstStyle/>
              <a:p>
                <a:endParaRPr lang="en-US"/>
              </a:p>
            </p:txBody>
          </p:sp>
          <p:sp>
            <p:nvSpPr>
              <p:cNvPr id="13333" name="Step 1"/>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1</a:t>
                </a:r>
              </a:p>
            </p:txBody>
          </p:sp>
        </p:grpSp>
        <p:grpSp>
          <p:nvGrpSpPr>
            <p:cNvPr id="13329" name="Group"/>
            <p:cNvGrpSpPr>
              <a:grpSpLocks/>
            </p:cNvGrpSpPr>
            <p:nvPr/>
          </p:nvGrpSpPr>
          <p:grpSpPr bwMode="auto">
            <a:xfrm>
              <a:off x="1971376" y="227450"/>
              <a:ext cx="5914134" cy="712992"/>
              <a:chOff x="0" y="227450"/>
              <a:chExt cx="5914132" cy="712991"/>
            </a:xfrm>
          </p:grpSpPr>
          <p:sp>
            <p:nvSpPr>
              <p:cNvPr id="13330" name="Rectangle"/>
              <p:cNvSpPr>
                <a:spLocks noChangeArrowheads="1"/>
              </p:cNvSpPr>
              <p:nvPr/>
            </p:nvSpPr>
            <p:spPr bwMode="auto">
              <a:xfrm>
                <a:off x="0" y="295385"/>
                <a:ext cx="5914132" cy="577120"/>
              </a:xfrm>
              <a:prstGeom prst="rect">
                <a:avLst/>
              </a:prstGeom>
              <a:solidFill>
                <a:srgbClr val="F8D6CC">
                  <a:alpha val="90195"/>
                </a:srgbClr>
              </a:solidFill>
              <a:ln w="12700">
                <a:solidFill>
                  <a:srgbClr val="F8D6CC">
                    <a:alpha val="90195"/>
                  </a:srgbClr>
                </a:solidFill>
                <a:miter lim="800000"/>
                <a:headEnd/>
                <a:tailEnd/>
              </a:ln>
            </p:spPr>
            <p:txBody>
              <a:bodyPr lIns="45719" tIns="45719" rIns="45719" bIns="45719" anchor="ctr"/>
              <a:lstStyle/>
              <a:p>
                <a:pPr defTabSz="488950" eaLnBrk="1">
                  <a:lnSpc>
                    <a:spcPct val="90000"/>
                  </a:lnSpc>
                  <a:spcBef>
                    <a:spcPts val="1300"/>
                  </a:spcBef>
                </a:pPr>
                <a:endParaRPr lang="en-US" sz="1100"/>
              </a:p>
            </p:txBody>
          </p:sp>
          <p:sp>
            <p:nvSpPr>
              <p:cNvPr id="13331" name="Preprocess images in the Convolutional layer."/>
              <p:cNvSpPr txBox="1">
                <a:spLocks noChangeArrowheads="1"/>
              </p:cNvSpPr>
              <p:nvPr/>
            </p:nvSpPr>
            <p:spPr bwMode="auto">
              <a:xfrm>
                <a:off x="0" y="227450"/>
                <a:ext cx="5914131" cy="712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488950">
                  <a:defRPr sz="1300">
                    <a:solidFill>
                      <a:srgbClr val="000000"/>
                    </a:solidFill>
                    <a:latin typeface="Calibri" pitchFamily="34" charset="0"/>
                    <a:cs typeface="Calibri" pitchFamily="34" charset="0"/>
                    <a:sym typeface="Calibri" pitchFamily="34" charset="0"/>
                  </a:defRPr>
                </a:lvl1pPr>
                <a:lvl2pPr defTabSz="488950">
                  <a:defRPr sz="1300">
                    <a:solidFill>
                      <a:srgbClr val="000000"/>
                    </a:solidFill>
                    <a:latin typeface="Calibri" pitchFamily="34" charset="0"/>
                    <a:cs typeface="Calibri" pitchFamily="34" charset="0"/>
                    <a:sym typeface="Calibri" pitchFamily="34" charset="0"/>
                  </a:defRPr>
                </a:lvl2pPr>
                <a:lvl3pPr defTabSz="488950">
                  <a:defRPr sz="1300">
                    <a:solidFill>
                      <a:srgbClr val="000000"/>
                    </a:solidFill>
                    <a:latin typeface="Calibri" pitchFamily="34" charset="0"/>
                    <a:cs typeface="Calibri" pitchFamily="34" charset="0"/>
                    <a:sym typeface="Calibri" pitchFamily="34" charset="0"/>
                  </a:defRPr>
                </a:lvl3pPr>
                <a:lvl4pPr defTabSz="488950">
                  <a:defRPr sz="1300">
                    <a:solidFill>
                      <a:srgbClr val="000000"/>
                    </a:solidFill>
                    <a:latin typeface="Calibri" pitchFamily="34" charset="0"/>
                    <a:cs typeface="Calibri" pitchFamily="34" charset="0"/>
                    <a:sym typeface="Calibri" pitchFamily="34" charset="0"/>
                  </a:defRPr>
                </a:lvl4pPr>
                <a:lvl5pPr defTabSz="488950">
                  <a:defRPr sz="1300">
                    <a:solidFill>
                      <a:srgbClr val="000000"/>
                    </a:solidFill>
                    <a:latin typeface="Calibri" pitchFamily="34" charset="0"/>
                    <a:cs typeface="Calibri" pitchFamily="34" charset="0"/>
                    <a:sym typeface="Calibri" pitchFamily="34" charset="0"/>
                  </a:defRPr>
                </a:lvl5pPr>
                <a:lvl6pPr marL="457200" indent="1371600" defTabSz="48895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48895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48895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48895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700" dirty="0" smtClean="0"/>
                  <a:t>Preprocess </a:t>
                </a:r>
                <a:r>
                  <a:rPr lang="en-US" sz="1700" dirty="0"/>
                  <a:t>images in the Convolutional </a:t>
                </a:r>
                <a:r>
                  <a:rPr lang="en-US" sz="1700" dirty="0" smtClean="0"/>
                  <a:t>layer by converting them to the format of the dataset, which is </a:t>
                </a:r>
                <a:r>
                  <a:rPr lang="en-US" sz="1700" dirty="0" err="1" smtClean="0"/>
                  <a:t>grayscale</a:t>
                </a:r>
                <a:r>
                  <a:rPr lang="en-US" sz="1700" dirty="0" smtClean="0"/>
                  <a:t> 28x28 pixels.</a:t>
                </a:r>
                <a:endParaRPr lang="en-US" sz="1700" dirty="0"/>
              </a:p>
            </p:txBody>
          </p:sp>
        </p:grpSp>
      </p:gr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PROJECT TIMELINE</a:t>
            </a:r>
            <a:endParaRPr lang="en-US" sz="2800" b="1" dirty="0">
              <a:solidFill>
                <a:srgbClr val="FFFFFF"/>
              </a:solidFill>
            </a:endParaRPr>
          </a:p>
        </p:txBody>
      </p:sp>
      <p:sp>
        <p:nvSpPr>
          <p:cNvPr id="13317" name="Slide Number Placeholder 1"/>
          <p:cNvSpPr>
            <a:spLocks noGrp="1" noChangeArrowheads="1"/>
          </p:cNvSpPr>
          <p:nvPr>
            <p:ph type="sldNum" sz="quarter" idx="22"/>
          </p:nvPr>
        </p:nvSpPr>
        <p:spPr>
          <a:xfrm>
            <a:off x="8334375" y="6415088"/>
            <a:ext cx="180975" cy="247650"/>
          </a:xfrm>
          <a:noFill/>
        </p:spPr>
        <p:txBody>
          <a:bodyPr/>
          <a:lstStyle/>
          <a:p>
            <a:fld id="{429E924B-4712-457C-BA37-AB94633DB92E}" type="slidenum">
              <a:rPr lang="en-US"/>
              <a:pPr/>
              <a:t>8</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2109367876"/>
              </p:ext>
            </p:extLst>
          </p:nvPr>
        </p:nvGraphicFramePr>
        <p:xfrm>
          <a:off x="381000" y="1752600"/>
          <a:ext cx="8305800" cy="3810000"/>
        </p:xfrm>
        <a:graphic>
          <a:graphicData uri="http://schemas.openxmlformats.org/drawingml/2006/table">
            <a:tbl>
              <a:tblPr bandRow="1">
                <a:tableStyleId>{5940675A-B579-460E-94D1-54222C63F5DA}</a:tableStyleId>
              </a:tblPr>
              <a:tblGrid>
                <a:gridCol w="1941865"/>
                <a:gridCol w="4417262"/>
                <a:gridCol w="1946673"/>
              </a:tblGrid>
              <a:tr h="328244">
                <a:tc>
                  <a:txBody>
                    <a:bodyPr/>
                    <a:lstStyle/>
                    <a:p>
                      <a:pPr marL="0" marR="0" algn="just">
                        <a:spcBef>
                          <a:spcPts val="0"/>
                        </a:spcBef>
                        <a:spcAft>
                          <a:spcPts val="0"/>
                        </a:spcAft>
                      </a:pPr>
                      <a:r>
                        <a:rPr lang="en-US" sz="1200" b="1" dirty="0">
                          <a:effectLst/>
                        </a:rPr>
                        <a:t>Dates (Weeks)</a:t>
                      </a:r>
                      <a:endParaRPr lang="en-US" sz="1200" b="1" dirty="0">
                        <a:effectLst/>
                        <a:latin typeface="Calibri"/>
                        <a:ea typeface="Calibri"/>
                      </a:endParaRPr>
                    </a:p>
                  </a:txBody>
                  <a:tcPr marL="68580" marR="68580" marT="0" marB="0"/>
                </a:tc>
                <a:tc>
                  <a:txBody>
                    <a:bodyPr/>
                    <a:lstStyle/>
                    <a:p>
                      <a:pPr marL="0" marR="0" algn="just">
                        <a:spcBef>
                          <a:spcPts val="0"/>
                        </a:spcBef>
                        <a:spcAft>
                          <a:spcPts val="0"/>
                        </a:spcAft>
                      </a:pPr>
                      <a:r>
                        <a:rPr lang="en-US" sz="1200" b="1" dirty="0">
                          <a:effectLst/>
                        </a:rPr>
                        <a:t>Describe the Objectives and roadmap actions</a:t>
                      </a:r>
                      <a:endParaRPr lang="en-US" sz="1200" b="1" dirty="0">
                        <a:effectLst/>
                        <a:latin typeface="Calibri"/>
                        <a:ea typeface="Calibri"/>
                      </a:endParaRPr>
                    </a:p>
                  </a:txBody>
                  <a:tcPr marL="68580" marR="68580" marT="0" marB="0"/>
                </a:tc>
                <a:tc>
                  <a:txBody>
                    <a:bodyPr/>
                    <a:lstStyle/>
                    <a:p>
                      <a:pPr marL="0" marR="0" algn="just">
                        <a:spcBef>
                          <a:spcPts val="0"/>
                        </a:spcBef>
                        <a:spcAft>
                          <a:spcPts val="0"/>
                        </a:spcAft>
                      </a:pPr>
                      <a:r>
                        <a:rPr lang="en-US" sz="1200" b="1" i="0" dirty="0">
                          <a:effectLst/>
                        </a:rPr>
                        <a:t>Contributor(s)</a:t>
                      </a:r>
                      <a:endParaRPr lang="en-US" sz="1200" b="1" i="0" dirty="0">
                        <a:effectLst/>
                        <a:latin typeface="Calibri"/>
                        <a:ea typeface="Calibri"/>
                      </a:endParaRPr>
                    </a:p>
                  </a:txBody>
                  <a:tcPr marL="68580" marR="68580" marT="0" marB="0"/>
                </a:tc>
              </a:tr>
              <a:tr h="328246">
                <a:tc>
                  <a:txBody>
                    <a:bodyPr/>
                    <a:lstStyle/>
                    <a:p>
                      <a:pPr marL="0" marR="0" algn="just">
                        <a:spcBef>
                          <a:spcPts val="0"/>
                        </a:spcBef>
                        <a:spcAft>
                          <a:spcPts val="0"/>
                        </a:spcAft>
                      </a:pPr>
                      <a:r>
                        <a:rPr lang="en-US" sz="1200">
                          <a:effectLst/>
                        </a:rPr>
                        <a:t>Week 6</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Topic selection and proposal submission </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Michael, Robert</a:t>
                      </a:r>
                      <a:endParaRPr lang="en-US" sz="1200">
                        <a:effectLst/>
                        <a:latin typeface="Calibri"/>
                        <a:ea typeface="Calibri"/>
                      </a:endParaRPr>
                    </a:p>
                  </a:txBody>
                  <a:tcPr marL="68580" marR="68580" marT="0" marB="0"/>
                </a:tc>
              </a:tr>
              <a:tr h="328246">
                <a:tc>
                  <a:txBody>
                    <a:bodyPr/>
                    <a:lstStyle/>
                    <a:p>
                      <a:pPr marL="0" marR="0" algn="just">
                        <a:spcBef>
                          <a:spcPts val="0"/>
                        </a:spcBef>
                        <a:spcAft>
                          <a:spcPts val="0"/>
                        </a:spcAft>
                      </a:pPr>
                      <a:r>
                        <a:rPr lang="en-US" sz="1200" dirty="0">
                          <a:effectLst/>
                        </a:rPr>
                        <a:t>Week 7</a:t>
                      </a:r>
                      <a:endParaRPr lang="en-US" sz="1200" dirty="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Create a repository on GitHub</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Robert</a:t>
                      </a:r>
                      <a:endParaRPr lang="en-US" sz="1200">
                        <a:effectLst/>
                        <a:latin typeface="Calibri"/>
                        <a:ea typeface="Calibri"/>
                      </a:endParaRPr>
                    </a:p>
                  </a:txBody>
                  <a:tcPr marL="68580" marR="68580" marT="0" marB="0"/>
                </a:tc>
              </a:tr>
              <a:tr h="328246">
                <a:tc>
                  <a:txBody>
                    <a:bodyPr/>
                    <a:lstStyle/>
                    <a:p>
                      <a:pPr marL="0" marR="0" algn="just">
                        <a:spcBef>
                          <a:spcPts val="0"/>
                        </a:spcBef>
                        <a:spcAft>
                          <a:spcPts val="0"/>
                        </a:spcAft>
                      </a:pPr>
                      <a:r>
                        <a:rPr lang="en-US" sz="1200">
                          <a:effectLst/>
                        </a:rPr>
                        <a:t>Week 8</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Data acquisition and pre-processing</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Michael</a:t>
                      </a:r>
                      <a:endParaRPr lang="en-US" sz="1200">
                        <a:effectLst/>
                        <a:latin typeface="Calibri"/>
                        <a:ea typeface="Calibri"/>
                      </a:endParaRPr>
                    </a:p>
                  </a:txBody>
                  <a:tcPr marL="68580" marR="68580" marT="0" marB="0"/>
                </a:tc>
              </a:tr>
              <a:tr h="328246">
                <a:tc>
                  <a:txBody>
                    <a:bodyPr/>
                    <a:lstStyle/>
                    <a:p>
                      <a:pPr marL="0" marR="0" algn="just">
                        <a:spcBef>
                          <a:spcPts val="0"/>
                        </a:spcBef>
                        <a:spcAft>
                          <a:spcPts val="0"/>
                        </a:spcAft>
                      </a:pPr>
                      <a:r>
                        <a:rPr lang="en-US" sz="1200">
                          <a:effectLst/>
                        </a:rPr>
                        <a:t>Week 9</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Create structure for CNN model </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Robert</a:t>
                      </a:r>
                      <a:endParaRPr lang="en-US" sz="1200">
                        <a:effectLst/>
                        <a:latin typeface="Calibri"/>
                        <a:ea typeface="Calibri"/>
                      </a:endParaRPr>
                    </a:p>
                  </a:txBody>
                  <a:tcPr marL="68580" marR="68580" marT="0" marB="0"/>
                </a:tc>
              </a:tr>
              <a:tr h="328246">
                <a:tc>
                  <a:txBody>
                    <a:bodyPr/>
                    <a:lstStyle/>
                    <a:p>
                      <a:pPr marL="0" marR="0" algn="just">
                        <a:spcBef>
                          <a:spcPts val="0"/>
                        </a:spcBef>
                        <a:spcAft>
                          <a:spcPts val="0"/>
                        </a:spcAft>
                      </a:pPr>
                      <a:r>
                        <a:rPr lang="en-US" sz="1200">
                          <a:effectLst/>
                        </a:rPr>
                        <a:t>Week 10</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Report project progress</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Michael, Robert</a:t>
                      </a:r>
                      <a:endParaRPr lang="en-US" sz="1200">
                        <a:effectLst/>
                        <a:latin typeface="Calibri"/>
                        <a:ea typeface="Calibri"/>
                      </a:endParaRPr>
                    </a:p>
                  </a:txBody>
                  <a:tcPr marL="68580" marR="68580" marT="0" marB="0"/>
                </a:tc>
              </a:tr>
              <a:tr h="328246">
                <a:tc>
                  <a:txBody>
                    <a:bodyPr/>
                    <a:lstStyle/>
                    <a:p>
                      <a:pPr marL="0" marR="0" algn="just">
                        <a:spcBef>
                          <a:spcPts val="0"/>
                        </a:spcBef>
                        <a:spcAft>
                          <a:spcPts val="0"/>
                        </a:spcAft>
                      </a:pPr>
                      <a:r>
                        <a:rPr lang="en-US" sz="1200">
                          <a:effectLst/>
                        </a:rPr>
                        <a:t>Week 11</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dirty="0">
                          <a:effectLst/>
                        </a:rPr>
                        <a:t>Implement model using chosen source code</a:t>
                      </a:r>
                      <a:endParaRPr lang="en-US" sz="1200" dirty="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Michael</a:t>
                      </a:r>
                      <a:endParaRPr lang="en-US" sz="1200">
                        <a:effectLst/>
                        <a:latin typeface="Calibri"/>
                        <a:ea typeface="Calibri"/>
                      </a:endParaRPr>
                    </a:p>
                  </a:txBody>
                  <a:tcPr marL="68580" marR="68580" marT="0" marB="0"/>
                </a:tc>
              </a:tr>
              <a:tr h="328246">
                <a:tc>
                  <a:txBody>
                    <a:bodyPr/>
                    <a:lstStyle/>
                    <a:p>
                      <a:pPr marL="0" marR="0" algn="just">
                        <a:spcBef>
                          <a:spcPts val="0"/>
                        </a:spcBef>
                        <a:spcAft>
                          <a:spcPts val="0"/>
                        </a:spcAft>
                      </a:pPr>
                      <a:r>
                        <a:rPr lang="en-US" sz="1200">
                          <a:effectLst/>
                        </a:rPr>
                        <a:t>Week 12</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Train/test split</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Robert</a:t>
                      </a:r>
                      <a:endParaRPr lang="en-US" sz="1200">
                        <a:effectLst/>
                        <a:latin typeface="Calibri"/>
                        <a:ea typeface="Calibri"/>
                      </a:endParaRPr>
                    </a:p>
                  </a:txBody>
                  <a:tcPr marL="68580" marR="68580" marT="0" marB="0"/>
                </a:tc>
              </a:tr>
              <a:tr h="422034">
                <a:tc>
                  <a:txBody>
                    <a:bodyPr/>
                    <a:lstStyle/>
                    <a:p>
                      <a:pPr marL="0" marR="0" algn="just">
                        <a:spcBef>
                          <a:spcPts val="0"/>
                        </a:spcBef>
                        <a:spcAft>
                          <a:spcPts val="0"/>
                        </a:spcAft>
                      </a:pPr>
                      <a:r>
                        <a:rPr lang="en-US" sz="1200">
                          <a:effectLst/>
                        </a:rPr>
                        <a:t>Week 13</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dirty="0">
                          <a:effectLst/>
                        </a:rPr>
                        <a:t>Evaluate and improve model based on test results</a:t>
                      </a:r>
                      <a:endParaRPr lang="en-US" sz="1200" dirty="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Michael</a:t>
                      </a:r>
                      <a:endParaRPr lang="en-US" sz="1200">
                        <a:effectLst/>
                        <a:latin typeface="Calibri"/>
                        <a:ea typeface="Calibri"/>
                      </a:endParaRPr>
                    </a:p>
                  </a:txBody>
                  <a:tcPr marL="68580" marR="68580" marT="0" marB="0"/>
                </a:tc>
              </a:tr>
              <a:tr h="328246">
                <a:tc>
                  <a:txBody>
                    <a:bodyPr/>
                    <a:lstStyle/>
                    <a:p>
                      <a:pPr marL="0" marR="0" algn="just">
                        <a:spcBef>
                          <a:spcPts val="0"/>
                        </a:spcBef>
                        <a:spcAft>
                          <a:spcPts val="0"/>
                        </a:spcAft>
                      </a:pPr>
                      <a:r>
                        <a:rPr lang="en-US" sz="1200">
                          <a:effectLst/>
                        </a:rPr>
                        <a:t>Week 14</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Repeat testing and improvement cycle</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a:effectLst/>
                        </a:rPr>
                        <a:t>Robert</a:t>
                      </a:r>
                      <a:endParaRPr lang="en-US" sz="1200">
                        <a:effectLst/>
                        <a:latin typeface="Calibri"/>
                        <a:ea typeface="Calibri"/>
                      </a:endParaRPr>
                    </a:p>
                  </a:txBody>
                  <a:tcPr marL="68580" marR="68580" marT="0" marB="0"/>
                </a:tc>
              </a:tr>
              <a:tr h="433754">
                <a:tc>
                  <a:txBody>
                    <a:bodyPr/>
                    <a:lstStyle/>
                    <a:p>
                      <a:pPr marL="0" marR="0" algn="just">
                        <a:spcBef>
                          <a:spcPts val="0"/>
                        </a:spcBef>
                        <a:spcAft>
                          <a:spcPts val="0"/>
                        </a:spcAft>
                      </a:pPr>
                      <a:r>
                        <a:rPr lang="en-US" sz="1200">
                          <a:effectLst/>
                        </a:rPr>
                        <a:t>Week 15</a:t>
                      </a:r>
                      <a:endParaRPr lang="en-US" sz="1200">
                        <a:effectLst/>
                        <a:latin typeface="Calibri"/>
                        <a:ea typeface="Calibri"/>
                      </a:endParaRPr>
                    </a:p>
                  </a:txBody>
                  <a:tcPr marL="68580" marR="68580" marT="0" marB="0"/>
                </a:tc>
                <a:tc>
                  <a:txBody>
                    <a:bodyPr/>
                    <a:lstStyle/>
                    <a:p>
                      <a:pPr marL="0" marR="0" algn="just">
                        <a:spcBef>
                          <a:spcPts val="0"/>
                        </a:spcBef>
                        <a:spcAft>
                          <a:spcPts val="0"/>
                        </a:spcAft>
                      </a:pPr>
                      <a:r>
                        <a:rPr lang="en-US" sz="1200" dirty="0">
                          <a:effectLst/>
                        </a:rPr>
                        <a:t>The final presentation of project results &amp; discussion</a:t>
                      </a:r>
                      <a:endParaRPr lang="en-US" sz="1200" dirty="0">
                        <a:effectLst/>
                        <a:latin typeface="Calibri"/>
                        <a:ea typeface="Calibri"/>
                      </a:endParaRPr>
                    </a:p>
                  </a:txBody>
                  <a:tcPr marL="68580" marR="68580" marT="0" marB="0"/>
                </a:tc>
                <a:tc>
                  <a:txBody>
                    <a:bodyPr/>
                    <a:lstStyle/>
                    <a:p>
                      <a:pPr marL="0" marR="0" algn="just">
                        <a:spcBef>
                          <a:spcPts val="0"/>
                        </a:spcBef>
                        <a:spcAft>
                          <a:spcPts val="0"/>
                        </a:spcAft>
                      </a:pPr>
                      <a:r>
                        <a:rPr lang="en-US" sz="1200" dirty="0">
                          <a:effectLst/>
                        </a:rPr>
                        <a:t>Michael, Robert</a:t>
                      </a:r>
                      <a:endParaRPr lang="en-US" sz="1200" dirty="0">
                        <a:effectLst/>
                        <a:latin typeface="Calibri"/>
                        <a:ea typeface="Calibri"/>
                      </a:endParaRPr>
                    </a:p>
                  </a:txBody>
                  <a:tcPr marL="68580" marR="68580" marT="0" marB="0"/>
                </a:tc>
              </a:tr>
            </a:tbl>
          </a:graphicData>
        </a:graphic>
      </p:graphicFrame>
      <p:sp>
        <p:nvSpPr>
          <p:cNvPr id="3" name="TextBox 2"/>
          <p:cNvSpPr txBox="1"/>
          <p:nvPr/>
        </p:nvSpPr>
        <p:spPr>
          <a:xfrm>
            <a:off x="304800" y="1143000"/>
            <a:ext cx="7924800" cy="6001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fontAlgn="auto">
              <a:spcBef>
                <a:spcPts val="0"/>
              </a:spcBef>
              <a:spcAft>
                <a:spcPts val="0"/>
              </a:spcAft>
            </a:pPr>
            <a:r>
              <a:rPr lang="en-US" sz="2000" b="1" dirty="0"/>
              <a:t>The milestones with their corresponding expected dates for achievement:</a:t>
            </a:r>
            <a:endParaRPr lang="en-US" sz="2000" dirty="0"/>
          </a:p>
          <a:p>
            <a:pPr marL="0" marR="0" indent="0" algn="l" defTabSz="685800" rtl="0" fontAlgn="auto" latinLnBrk="0" hangingPunct="0">
              <a:lnSpc>
                <a:spcPct val="100000"/>
              </a:lnSpc>
              <a:spcBef>
                <a:spcPts val="0"/>
              </a:spcBef>
              <a:spcAft>
                <a:spcPts val="0"/>
              </a:spcAft>
              <a:buClrTx/>
              <a:buSzTx/>
              <a:buFontTx/>
              <a:buNone/>
              <a:tabLst/>
            </a:pPr>
            <a:endParaRPr kumimoji="0" lang="en-US" sz="13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367454782"/>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ontent Placeholder 5"/>
          <p:cNvSpPr txBox="1">
            <a:spLocks noGrp="1"/>
          </p:cNvSpPr>
          <p:nvPr>
            <p:ph type="body" idx="1"/>
          </p:nvPr>
        </p:nvSpPr>
        <p:spPr>
          <a:xfrm>
            <a:off x="152400" y="1066800"/>
            <a:ext cx="8763000" cy="5556250"/>
          </a:xfrm>
        </p:spPr>
        <p:txBody>
          <a:bodyPr>
            <a:normAutofit fontScale="92500" lnSpcReduction="10000"/>
          </a:bodyPr>
          <a:lstStyle/>
          <a:p>
            <a:pPr marL="0" indent="0" algn="just" defTabSz="786364" eaLnBrk="1" fontAlgn="auto" hangingPunct="1">
              <a:lnSpc>
                <a:spcPct val="72000"/>
              </a:lnSpc>
              <a:spcBef>
                <a:spcPts val="800"/>
              </a:spcBef>
              <a:spcAft>
                <a:spcPts val="0"/>
              </a:spcAft>
              <a:buSzTx/>
              <a:buFont typeface="Arial"/>
              <a:buNone/>
              <a:defRPr sz="1720"/>
            </a:pPr>
            <a:r>
              <a:rPr lang="en-US" sz="1900" dirty="0" smtClean="0">
                <a:sym typeface="Calibri"/>
              </a:rPr>
              <a:t>We studied the datasets that were used in the papers that we studied in the Literature Review. Below are the papers and the corresponding datasets used in each paper:</a:t>
            </a:r>
          </a:p>
          <a:p>
            <a:pPr marL="0" indent="0" algn="just" defTabSz="786364" eaLnBrk="1" fontAlgn="auto" hangingPunct="1">
              <a:lnSpc>
                <a:spcPct val="72000"/>
              </a:lnSpc>
              <a:spcBef>
                <a:spcPts val="800"/>
              </a:spcBef>
              <a:spcAft>
                <a:spcPts val="0"/>
              </a:spcAft>
              <a:buSzTx/>
              <a:buFont typeface="Arial"/>
              <a:buNone/>
              <a:defRPr sz="1720"/>
            </a:pPr>
            <a:endParaRPr lang="en-US" sz="1900" dirty="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smtClean="0">
                <a:sym typeface="Calibri"/>
              </a:rPr>
              <a:t>Paper: </a:t>
            </a:r>
            <a:r>
              <a:rPr sz="1900" dirty="0" smtClean="0">
                <a:sym typeface="Calibri"/>
              </a:rPr>
              <a:t>“Comparative </a:t>
            </a:r>
            <a:r>
              <a:rPr sz="1900" dirty="0">
                <a:sym typeface="Calibri"/>
              </a:rPr>
              <a:t>Evaluation and Utilization of Convolutional Neural Network Architectures for Irish Sign Language Recognition” (Muhammad et al., </a:t>
            </a:r>
            <a:r>
              <a:rPr sz="1900" dirty="0" smtClean="0">
                <a:sym typeface="Calibri"/>
              </a:rPr>
              <a:t>2025) </a:t>
            </a:r>
            <a:endParaRPr lang="en-US" sz="1900" dirty="0" smtClean="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smtClean="0">
                <a:sym typeface="Calibri"/>
              </a:rPr>
              <a:t>Dataset: </a:t>
            </a:r>
            <a:r>
              <a:rPr sz="1900" dirty="0" smtClean="0">
                <a:sym typeface="Calibri"/>
              </a:rPr>
              <a:t>Marlon Oliveira's et al. Irish Sign Language hand-shape dataset (ISL-HS) (Oliveira et al., 2017)</a:t>
            </a:r>
            <a:endParaRPr lang="en-US" sz="1900" dirty="0" smtClean="0">
              <a:sym typeface="Calibri"/>
            </a:endParaRPr>
          </a:p>
          <a:p>
            <a:pPr marL="0" lvl="1" indent="557008" algn="just" defTabSz="786364" eaLnBrk="1" fontAlgn="auto" hangingPunct="1">
              <a:lnSpc>
                <a:spcPct val="72000"/>
              </a:lnSpc>
              <a:spcBef>
                <a:spcPts val="800"/>
              </a:spcBef>
              <a:spcAft>
                <a:spcPts val="0"/>
              </a:spcAft>
              <a:buSzTx/>
              <a:buFont typeface="Arial"/>
              <a:buNone/>
              <a:defRPr sz="1720"/>
            </a:pPr>
            <a:endParaRPr sz="1100" dirty="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a:sym typeface="Calibri"/>
              </a:rPr>
              <a:t>Paper</a:t>
            </a:r>
            <a:r>
              <a:rPr lang="en-US" sz="1900" b="1" dirty="0" smtClean="0">
                <a:sym typeface="Calibri"/>
              </a:rPr>
              <a:t>: </a:t>
            </a:r>
            <a:r>
              <a:rPr sz="1900" dirty="0" smtClean="0">
                <a:sym typeface="Calibri"/>
              </a:rPr>
              <a:t>“</a:t>
            </a:r>
            <a:r>
              <a:rPr sz="1900" dirty="0">
                <a:sym typeface="Calibri"/>
              </a:rPr>
              <a:t>A Critical Study of Recent Deep Learning-Based Continuous Sign Language Recognition” (</a:t>
            </a:r>
            <a:r>
              <a:rPr sz="1900" dirty="0" err="1">
                <a:sym typeface="Calibri"/>
              </a:rPr>
              <a:t>Taher</a:t>
            </a:r>
            <a:r>
              <a:rPr sz="1900" dirty="0">
                <a:sym typeface="Calibri"/>
              </a:rPr>
              <a:t> et al., </a:t>
            </a:r>
            <a:r>
              <a:rPr sz="1900" dirty="0" smtClean="0">
                <a:sym typeface="Calibri"/>
              </a:rPr>
              <a:t>2025)</a:t>
            </a:r>
            <a:endParaRPr lang="en-US" sz="1900" dirty="0" smtClean="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a:sym typeface="Calibri"/>
              </a:rPr>
              <a:t>Dataset: </a:t>
            </a:r>
            <a:r>
              <a:rPr sz="1900" dirty="0" smtClean="0">
                <a:sym typeface="Calibri"/>
              </a:rPr>
              <a:t>Publicly </a:t>
            </a:r>
            <a:r>
              <a:rPr sz="1900" dirty="0">
                <a:sym typeface="Calibri"/>
              </a:rPr>
              <a:t>accessible CSLR benchmark datasets </a:t>
            </a:r>
            <a:r>
              <a:rPr sz="1900" dirty="0" err="1">
                <a:sym typeface="Calibri"/>
              </a:rPr>
              <a:t>eg</a:t>
            </a:r>
            <a:r>
              <a:rPr sz="1900" dirty="0">
                <a:sym typeface="Calibri"/>
              </a:rPr>
              <a:t>. RVL-SLLL (</a:t>
            </a:r>
            <a:r>
              <a:rPr sz="1900" dirty="0" err="1">
                <a:sym typeface="Calibri"/>
              </a:rPr>
              <a:t>Martínez</a:t>
            </a:r>
            <a:r>
              <a:rPr sz="1900" dirty="0">
                <a:sym typeface="Calibri"/>
              </a:rPr>
              <a:t> et al., 2002</a:t>
            </a:r>
            <a:r>
              <a:rPr sz="1900" dirty="0" smtClean="0">
                <a:sym typeface="Calibri"/>
              </a:rPr>
              <a:t>)</a:t>
            </a:r>
            <a:endParaRPr lang="en-US" sz="1900" dirty="0" smtClean="0">
              <a:sym typeface="Calibri"/>
            </a:endParaRPr>
          </a:p>
          <a:p>
            <a:pPr marL="0" lvl="1" indent="557008" algn="just" defTabSz="786364" eaLnBrk="1" fontAlgn="auto" hangingPunct="1">
              <a:lnSpc>
                <a:spcPct val="72000"/>
              </a:lnSpc>
              <a:spcBef>
                <a:spcPts val="800"/>
              </a:spcBef>
              <a:spcAft>
                <a:spcPts val="0"/>
              </a:spcAft>
              <a:buSzTx/>
              <a:buFont typeface="Arial"/>
              <a:buNone/>
              <a:defRPr sz="1720"/>
            </a:pPr>
            <a:r>
              <a:rPr sz="1900" dirty="0" smtClean="0">
                <a:sym typeface="Calibri"/>
              </a:rPr>
              <a:t> </a:t>
            </a:r>
            <a:endParaRPr sz="1900" dirty="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a:sym typeface="Calibri"/>
              </a:rPr>
              <a:t>Paper</a:t>
            </a:r>
            <a:r>
              <a:rPr lang="en-US" sz="1900" b="1" dirty="0" smtClean="0">
                <a:sym typeface="Calibri"/>
              </a:rPr>
              <a:t>: </a:t>
            </a:r>
            <a:r>
              <a:rPr sz="1900" dirty="0" smtClean="0">
                <a:sym typeface="Calibri"/>
              </a:rPr>
              <a:t>“</a:t>
            </a:r>
            <a:r>
              <a:rPr sz="1900" dirty="0">
                <a:sym typeface="Calibri"/>
              </a:rPr>
              <a:t>Recent Advances on Deep Learning for Sign Language Recognition” (Zhang et al., </a:t>
            </a:r>
            <a:r>
              <a:rPr sz="1900" dirty="0" smtClean="0">
                <a:sym typeface="Calibri"/>
              </a:rPr>
              <a:t>2024)</a:t>
            </a:r>
            <a:endParaRPr lang="en-US" sz="1900" dirty="0" smtClean="0">
              <a:sym typeface="Calibri"/>
            </a:endParaRPr>
          </a:p>
          <a:p>
            <a:pPr marL="0" indent="0" algn="just" defTabSz="786364" eaLnBrk="1" fontAlgn="auto" hangingPunct="1">
              <a:lnSpc>
                <a:spcPct val="72000"/>
              </a:lnSpc>
              <a:spcBef>
                <a:spcPts val="800"/>
              </a:spcBef>
              <a:spcAft>
                <a:spcPts val="0"/>
              </a:spcAft>
              <a:buSzTx/>
              <a:buNone/>
              <a:defRPr sz="1720"/>
            </a:pPr>
            <a:r>
              <a:rPr lang="en-US" sz="1900" b="1" dirty="0" smtClean="0">
                <a:sym typeface="Calibri"/>
              </a:rPr>
              <a:t>Datasets: </a:t>
            </a:r>
          </a:p>
          <a:p>
            <a:pPr lvl="1" algn="just" defTabSz="786364" eaLnBrk="1" fontAlgn="auto" hangingPunct="1">
              <a:lnSpc>
                <a:spcPct val="72000"/>
              </a:lnSpc>
              <a:spcBef>
                <a:spcPts val="800"/>
              </a:spcBef>
              <a:spcAft>
                <a:spcPts val="0"/>
              </a:spcAft>
              <a:buSzTx/>
              <a:defRPr sz="1720"/>
            </a:pPr>
            <a:r>
              <a:rPr lang="en-US" sz="1900" dirty="0" smtClean="0">
                <a:sym typeface="Calibri"/>
              </a:rPr>
              <a:t>Oscar</a:t>
            </a:r>
            <a:r>
              <a:rPr lang="en-US" sz="1900" dirty="0">
                <a:sym typeface="Calibri"/>
              </a:rPr>
              <a:t>, K. (2019). Papers with code—MS-ASL dataset. </a:t>
            </a:r>
            <a:endParaRPr lang="en-US" sz="1900" dirty="0" smtClean="0">
              <a:sym typeface="Calibri"/>
            </a:endParaRPr>
          </a:p>
          <a:p>
            <a:pPr lvl="1" algn="just" defTabSz="786364" eaLnBrk="1" fontAlgn="auto" hangingPunct="1">
              <a:lnSpc>
                <a:spcPct val="72000"/>
              </a:lnSpc>
              <a:spcBef>
                <a:spcPts val="800"/>
              </a:spcBef>
              <a:spcAft>
                <a:spcPts val="0"/>
              </a:spcAft>
              <a:buSzTx/>
              <a:defRPr sz="1720"/>
            </a:pPr>
            <a:r>
              <a:rPr lang="en-US" sz="1900" dirty="0">
                <a:sym typeface="Calibri"/>
              </a:rPr>
              <a:t>Sridhar, A., </a:t>
            </a:r>
            <a:r>
              <a:rPr lang="en-US" sz="1900" dirty="0" err="1">
                <a:sym typeface="Calibri"/>
              </a:rPr>
              <a:t>Ganesan</a:t>
            </a:r>
            <a:r>
              <a:rPr lang="en-US" sz="1900" dirty="0">
                <a:sym typeface="Calibri"/>
              </a:rPr>
              <a:t>, R. G., Kumar, P., </a:t>
            </a:r>
            <a:r>
              <a:rPr lang="en-US" sz="1900" dirty="0" err="1">
                <a:sym typeface="Calibri"/>
              </a:rPr>
              <a:t>Khapra</a:t>
            </a:r>
            <a:r>
              <a:rPr lang="en-US" sz="1900" dirty="0">
                <a:sym typeface="Calibri"/>
              </a:rPr>
              <a:t>, M. (2020</a:t>
            </a:r>
            <a:r>
              <a:rPr lang="en-US" sz="1900" dirty="0" smtClean="0">
                <a:sym typeface="Calibri"/>
              </a:rPr>
              <a:t>). INCLUDE.</a:t>
            </a:r>
          </a:p>
          <a:p>
            <a:pPr lvl="1" algn="just" defTabSz="786364" eaLnBrk="1" fontAlgn="auto" hangingPunct="1">
              <a:lnSpc>
                <a:spcPct val="72000"/>
              </a:lnSpc>
              <a:spcBef>
                <a:spcPts val="800"/>
              </a:spcBef>
              <a:spcAft>
                <a:spcPts val="0"/>
              </a:spcAft>
              <a:buSzTx/>
              <a:defRPr sz="1720"/>
            </a:pPr>
            <a:r>
              <a:rPr lang="en-US" sz="1900" dirty="0" err="1">
                <a:sym typeface="Calibri"/>
              </a:rPr>
              <a:t>Dongxu</a:t>
            </a:r>
            <a:r>
              <a:rPr lang="en-US" sz="1900" dirty="0">
                <a:sym typeface="Calibri"/>
              </a:rPr>
              <a:t> (2023). WLASL: A large-scale dataset for Word-Level American sign </a:t>
            </a:r>
            <a:r>
              <a:rPr lang="en-US" sz="1900" dirty="0" smtClean="0">
                <a:sym typeface="Calibri"/>
              </a:rPr>
              <a:t>language. </a:t>
            </a:r>
          </a:p>
          <a:p>
            <a:pPr marL="457200" lvl="1" indent="0" algn="just" defTabSz="786364" eaLnBrk="1" fontAlgn="auto" hangingPunct="1">
              <a:lnSpc>
                <a:spcPct val="72000"/>
              </a:lnSpc>
              <a:spcBef>
                <a:spcPts val="800"/>
              </a:spcBef>
              <a:spcAft>
                <a:spcPts val="0"/>
              </a:spcAft>
              <a:buSzTx/>
              <a:buNone/>
              <a:defRPr sz="1720"/>
            </a:pPr>
            <a:endParaRPr lang="en-US" sz="1900" dirty="0" smtClean="0">
              <a:sym typeface="Calibri"/>
            </a:endParaRPr>
          </a:p>
          <a:p>
            <a:pPr marL="0" lvl="1" indent="0" algn="just" defTabSz="786364" eaLnBrk="1" fontAlgn="auto" hangingPunct="1">
              <a:lnSpc>
                <a:spcPct val="72000"/>
              </a:lnSpc>
              <a:spcBef>
                <a:spcPts val="800"/>
              </a:spcBef>
              <a:spcAft>
                <a:spcPts val="0"/>
              </a:spcAft>
              <a:buSzTx/>
              <a:buNone/>
              <a:defRPr sz="1720"/>
            </a:pPr>
            <a:r>
              <a:rPr sz="1900" dirty="0" smtClean="0">
                <a:sym typeface="Calibri"/>
              </a:rPr>
              <a:t>For </a:t>
            </a:r>
            <a:r>
              <a:rPr sz="1900" dirty="0">
                <a:sym typeface="Calibri"/>
              </a:rPr>
              <a:t>our </a:t>
            </a:r>
            <a:r>
              <a:rPr sz="1900" dirty="0" smtClean="0">
                <a:sym typeface="Calibri"/>
              </a:rPr>
              <a:t>model we </a:t>
            </a:r>
            <a:r>
              <a:rPr sz="1900" dirty="0">
                <a:sym typeface="Calibri"/>
              </a:rPr>
              <a:t>utilize the MNIST Sign Language </a:t>
            </a:r>
            <a:r>
              <a:rPr sz="1900" dirty="0" smtClean="0">
                <a:sym typeface="Calibri"/>
              </a:rPr>
              <a:t>Dataset</a:t>
            </a:r>
            <a:r>
              <a:rPr lang="en-US" sz="1900" dirty="0" smtClean="0">
                <a:sym typeface="Calibri"/>
              </a:rPr>
              <a:t> [7]</a:t>
            </a:r>
            <a:r>
              <a:rPr sz="1900" dirty="0" smtClean="0">
                <a:sym typeface="Calibri"/>
              </a:rPr>
              <a:t>. </a:t>
            </a:r>
            <a:r>
              <a:rPr sz="1900" dirty="0">
                <a:sym typeface="Calibri"/>
              </a:rPr>
              <a:t>It contains rich data of 28 x 28 images of </a:t>
            </a:r>
            <a:r>
              <a:rPr sz="1900" dirty="0" err="1">
                <a:sym typeface="Calibri"/>
              </a:rPr>
              <a:t>grayscale</a:t>
            </a:r>
            <a:r>
              <a:rPr sz="1900" dirty="0">
                <a:sym typeface="Calibri"/>
              </a:rPr>
              <a:t> ASL alphabet signs. The training set contains 27,455 images and labels and the testing set contains 7,172 images and labels. </a:t>
            </a:r>
          </a:p>
          <a:p>
            <a:pPr marL="0" lvl="1" indent="557008" algn="just" defTabSz="786364" eaLnBrk="1" fontAlgn="auto" hangingPunct="1">
              <a:lnSpc>
                <a:spcPct val="72000"/>
              </a:lnSpc>
              <a:spcBef>
                <a:spcPts val="800"/>
              </a:spcBef>
              <a:spcAft>
                <a:spcPts val="0"/>
              </a:spcAft>
              <a:buSzTx/>
              <a:buFont typeface="Arial"/>
              <a:buNone/>
              <a:defRPr sz="1720"/>
            </a:pPr>
            <a:endParaRPr sz="1720" dirty="0">
              <a:sym typeface="Calibri"/>
            </a:endParaRPr>
          </a:p>
        </p:txBody>
      </p:sp>
      <p:sp>
        <p:nvSpPr>
          <p:cNvPr id="14338" name="Slide Number Placeholder 2"/>
          <p:cNvSpPr>
            <a:spLocks noGrp="1" noChangeArrowheads="1"/>
          </p:cNvSpPr>
          <p:nvPr>
            <p:ph type="sldNum" sz="quarter" idx="10"/>
          </p:nvPr>
        </p:nvSpPr>
        <p:spPr>
          <a:xfrm>
            <a:off x="8334375" y="6415088"/>
            <a:ext cx="180975" cy="247650"/>
          </a:xfrm>
          <a:noFill/>
        </p:spPr>
        <p:txBody>
          <a:bodyPr/>
          <a:lstStyle/>
          <a:p>
            <a:fld id="{5BC65953-25DE-4A96-B702-F174106DAED9}" type="slidenum">
              <a:rPr lang="en-US"/>
              <a:pPr/>
              <a:t>9</a:t>
            </a:fld>
            <a:endParaRPr lang="en-US"/>
          </a:p>
        </p:txBody>
      </p:sp>
      <p:sp>
        <p:nvSpPr>
          <p:cNvPr id="14340"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DATASET EXPLORATION</a:t>
            </a:r>
            <a:endParaRPr lang="en-US" sz="2800" b="1" dirty="0">
              <a:solidFill>
                <a:srgbClr val="FFFFFF"/>
              </a:solidFill>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Placeholder 3"/>
          <p:cNvSpPr txBox="1">
            <a:spLocks noGrp="1" noChangeArrowheads="1"/>
          </p:cNvSpPr>
          <p:nvPr>
            <p:ph type="body" sz="quarter" idx="1"/>
          </p:nvPr>
        </p:nvSpPr>
        <p:spPr>
          <a:xfrm>
            <a:off x="152400" y="990600"/>
            <a:ext cx="6248400" cy="5637213"/>
          </a:xfrm>
        </p:spPr>
        <p:txBody>
          <a:bodyPr/>
          <a:lstStyle>
            <a:lvl1pPr marL="285750" indent="-285750">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algn="just" eaLnBrk="1" hangingPunct="1">
              <a:buSzPct val="100000"/>
              <a:buFont typeface="Arial" charset="0"/>
              <a:buChar char="•"/>
            </a:pPr>
            <a:r>
              <a:rPr lang="en-US" sz="1800" dirty="0" smtClean="0"/>
              <a:t>Before inputting the images into the neural network, they go through preprocessing functions that include filters, padding, smoothing, feature extraction, edge detection, etc.</a:t>
            </a:r>
          </a:p>
          <a:p>
            <a:pPr algn="just" eaLnBrk="1" hangingPunct="1">
              <a:buSzPct val="100000"/>
              <a:buFont typeface="Arial" charset="0"/>
              <a:buChar char="•"/>
            </a:pPr>
            <a:r>
              <a:rPr lang="en-US" sz="1800" dirty="0" smtClean="0"/>
              <a:t>Filters are small pixel matrices that traverse an image and perform specified functions based on the values given to the matrices in order to process images.</a:t>
            </a:r>
          </a:p>
          <a:p>
            <a:pPr algn="just" eaLnBrk="1" hangingPunct="1">
              <a:buSzPct val="100000"/>
              <a:buFont typeface="Arial" charset="0"/>
              <a:buChar char="•"/>
            </a:pPr>
            <a:r>
              <a:rPr lang="en-US" sz="1800" dirty="0" smtClean="0"/>
              <a:t>Padding is done in order for the image to retain its resolution when applying filters, so that no information is lost.</a:t>
            </a:r>
          </a:p>
          <a:p>
            <a:pPr algn="just" eaLnBrk="1" hangingPunct="1">
              <a:buSzPct val="100000"/>
              <a:buFont typeface="Arial" charset="0"/>
              <a:buChar char="•"/>
            </a:pPr>
            <a:r>
              <a:rPr lang="en-US" sz="1800" dirty="0" smtClean="0"/>
              <a:t>Smoothing eliminates image noisiness such as Gaussian noise, Salt and Pepper noise, random noise, and others.</a:t>
            </a:r>
          </a:p>
          <a:p>
            <a:pPr algn="just" eaLnBrk="1" hangingPunct="1">
              <a:buSzPct val="100000"/>
              <a:buFont typeface="Arial" charset="0"/>
              <a:buChar char="•"/>
            </a:pPr>
            <a:r>
              <a:rPr lang="en-US" sz="1800" dirty="0" smtClean="0"/>
              <a:t>Feature extraction finds specific features in the image that recognition can focus on. For example, edge detection emphasizes the edges, so that the contours are better defined.</a:t>
            </a:r>
          </a:p>
          <a:p>
            <a:pPr algn="just" eaLnBrk="1" hangingPunct="1">
              <a:buSzPct val="100000"/>
              <a:buFont typeface="Arial" charset="0"/>
              <a:buChar char="•"/>
            </a:pPr>
            <a:r>
              <a:rPr lang="en-US" sz="1800" dirty="0" smtClean="0"/>
              <a:t>The Fully-connected layer is the neural network itself that uses layers of interconnected neurons that transform input data using weighted sums and activation functions. During training, it adjusts its weights via </a:t>
            </a:r>
            <a:r>
              <a:rPr lang="en-US" sz="1800" dirty="0" err="1" smtClean="0"/>
              <a:t>backpropagation</a:t>
            </a:r>
            <a:r>
              <a:rPr lang="en-US" sz="1800" dirty="0" smtClean="0"/>
              <a:t> to minimize prediction error and learn patterns from data.</a:t>
            </a:r>
          </a:p>
        </p:txBody>
      </p:sp>
      <p:sp>
        <p:nvSpPr>
          <p:cNvPr id="15364" name="Slide Number Placeholder 1"/>
          <p:cNvSpPr>
            <a:spLocks noGrp="1" noChangeArrowheads="1"/>
          </p:cNvSpPr>
          <p:nvPr>
            <p:ph type="sldNum" sz="quarter" idx="22"/>
          </p:nvPr>
        </p:nvSpPr>
        <p:spPr>
          <a:xfrm>
            <a:off x="8334375" y="6415088"/>
            <a:ext cx="180975" cy="247650"/>
          </a:xfrm>
          <a:noFill/>
        </p:spPr>
        <p:txBody>
          <a:bodyPr/>
          <a:lstStyle/>
          <a:p>
            <a:fld id="{4C4DF90D-92C4-482B-9B30-2698C549B8A1}" type="slidenum">
              <a:rPr lang="en-US"/>
              <a:pPr/>
              <a:t>10</a:t>
            </a:fld>
            <a:endParaRPr lang="en-US"/>
          </a:p>
        </p:txBody>
      </p:sp>
      <p:sp>
        <p:nvSpPr>
          <p:cNvPr id="15363"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UNDERSTANDING THE FUNCTIONS</a:t>
            </a:r>
          </a:p>
        </p:txBody>
      </p:sp>
      <p:pic>
        <p:nvPicPr>
          <p:cNvPr id="15365" name="Picture 10" descr="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69063" y="1444625"/>
            <a:ext cx="2490787" cy="170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15366" name="Picture 12" descr="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3988" y="3983038"/>
            <a:ext cx="2532062"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OBTAINED RESULTS</a:t>
            </a:r>
          </a:p>
        </p:txBody>
      </p:sp>
      <p:sp>
        <p:nvSpPr>
          <p:cNvPr id="151" name="Content Placeholder 5"/>
          <p:cNvSpPr txBox="1">
            <a:spLocks noGrp="1"/>
          </p:cNvSpPr>
          <p:nvPr>
            <p:ph type="body" idx="1"/>
          </p:nvPr>
        </p:nvSpPr>
        <p:spPr>
          <a:xfrm>
            <a:off x="476250" y="1054100"/>
            <a:ext cx="7886700" cy="3594100"/>
          </a:xfrm>
        </p:spPr>
        <p:txBody>
          <a:bodyPr>
            <a:normAutofit/>
          </a:bodyPr>
          <a:lstStyle/>
          <a:p>
            <a:pPr marL="0" indent="0" algn="just" defTabSz="914377" eaLnBrk="1" fontAlgn="auto" hangingPunct="1">
              <a:lnSpc>
                <a:spcPct val="72000"/>
              </a:lnSpc>
              <a:spcAft>
                <a:spcPts val="0"/>
              </a:spcAft>
              <a:buSzTx/>
              <a:buFont typeface="Arial"/>
              <a:buNone/>
              <a:defRPr sz="1900"/>
            </a:pPr>
            <a:r>
              <a:rPr sz="1900" dirty="0">
                <a:sym typeface="Calibri"/>
              </a:rPr>
              <a:t>At this stage we obtained the following results:</a:t>
            </a:r>
          </a:p>
          <a:p>
            <a:pPr marL="228593" indent="-228593" algn="just" defTabSz="914377" eaLnBrk="1" fontAlgn="auto" hangingPunct="1">
              <a:lnSpc>
                <a:spcPct val="72000"/>
              </a:lnSpc>
              <a:spcAft>
                <a:spcPts val="0"/>
              </a:spcAft>
              <a:buFont typeface="Arial"/>
              <a:buChar char="•"/>
              <a:defRPr sz="1900"/>
            </a:pPr>
            <a:r>
              <a:rPr sz="1900" dirty="0">
                <a:sym typeface="Calibri"/>
              </a:rPr>
              <a:t>Performed the literature review that allowed us to choose the Deep Learning model, such as CNN, that best fits our problem definition.</a:t>
            </a:r>
          </a:p>
          <a:p>
            <a:pPr marL="228593" indent="-228593" algn="just" defTabSz="914377" eaLnBrk="1" fontAlgn="auto" hangingPunct="1">
              <a:lnSpc>
                <a:spcPct val="72000"/>
              </a:lnSpc>
              <a:spcAft>
                <a:spcPts val="0"/>
              </a:spcAft>
              <a:buFont typeface="Arial"/>
              <a:buChar char="•"/>
              <a:defRPr sz="1900"/>
            </a:pPr>
            <a:endParaRPr sz="1900" dirty="0">
              <a:sym typeface="Calibri"/>
            </a:endParaRPr>
          </a:p>
          <a:p>
            <a:pPr marL="228593" indent="-228593" algn="just" defTabSz="914377" eaLnBrk="1" fontAlgn="auto" hangingPunct="1">
              <a:lnSpc>
                <a:spcPct val="72000"/>
              </a:lnSpc>
              <a:spcAft>
                <a:spcPts val="0"/>
              </a:spcAft>
              <a:buFont typeface="Arial"/>
              <a:buChar char="•"/>
              <a:defRPr sz="1900"/>
            </a:pPr>
            <a:r>
              <a:rPr sz="1900" dirty="0">
                <a:sym typeface="Calibri"/>
              </a:rPr>
              <a:t>Selected the MNIST Sign Language dataset that is most appropriate for the intended purposes of our model.</a:t>
            </a:r>
          </a:p>
          <a:p>
            <a:pPr marL="228593" indent="-228593" algn="just" defTabSz="914377" eaLnBrk="1" fontAlgn="auto" hangingPunct="1">
              <a:lnSpc>
                <a:spcPct val="72000"/>
              </a:lnSpc>
              <a:spcAft>
                <a:spcPts val="0"/>
              </a:spcAft>
              <a:buFont typeface="Arial"/>
              <a:buChar char="•"/>
              <a:defRPr sz="1900"/>
            </a:pPr>
            <a:endParaRPr sz="1900" dirty="0">
              <a:sym typeface="Calibri"/>
            </a:endParaRPr>
          </a:p>
          <a:p>
            <a:pPr marL="228593" indent="-228593" algn="just" defTabSz="914377" eaLnBrk="1" fontAlgn="auto" hangingPunct="1">
              <a:lnSpc>
                <a:spcPct val="72000"/>
              </a:lnSpc>
              <a:spcAft>
                <a:spcPts val="0"/>
              </a:spcAft>
              <a:buFont typeface="Arial"/>
              <a:buChar char="•"/>
              <a:defRPr sz="1900"/>
            </a:pPr>
            <a:r>
              <a:rPr sz="1900" dirty="0">
                <a:sym typeface="Calibri"/>
              </a:rPr>
              <a:t>Outlined the Convolutional, Pooling, and </a:t>
            </a:r>
            <a:r>
              <a:rPr sz="1900" dirty="0" smtClean="0">
                <a:sym typeface="Calibri"/>
              </a:rPr>
              <a:t>Full</a:t>
            </a:r>
            <a:r>
              <a:rPr lang="en-US" sz="1900" dirty="0">
                <a:sym typeface="Calibri"/>
              </a:rPr>
              <a:t>y</a:t>
            </a:r>
            <a:r>
              <a:rPr sz="1900" dirty="0" smtClean="0">
                <a:sym typeface="Calibri"/>
              </a:rPr>
              <a:t>-connected </a:t>
            </a:r>
            <a:r>
              <a:rPr sz="1900" dirty="0">
                <a:sym typeface="Calibri"/>
              </a:rPr>
              <a:t>layers and their structures that we are going to use in the project.</a:t>
            </a:r>
          </a:p>
          <a:p>
            <a:pPr marL="228593" indent="-228593" algn="just" defTabSz="914377" eaLnBrk="1" fontAlgn="auto" hangingPunct="1">
              <a:lnSpc>
                <a:spcPct val="72000"/>
              </a:lnSpc>
              <a:spcAft>
                <a:spcPts val="0"/>
              </a:spcAft>
              <a:buFont typeface="Arial"/>
              <a:buChar char="•"/>
              <a:defRPr sz="1900"/>
            </a:pPr>
            <a:endParaRPr sz="1900" dirty="0">
              <a:sym typeface="Calibri"/>
            </a:endParaRPr>
          </a:p>
          <a:p>
            <a:pPr marL="228593" indent="-228593" algn="just" defTabSz="914377" eaLnBrk="1" fontAlgn="auto" hangingPunct="1">
              <a:lnSpc>
                <a:spcPct val="72000"/>
              </a:lnSpc>
              <a:spcAft>
                <a:spcPts val="0"/>
              </a:spcAft>
              <a:buFont typeface="Arial"/>
              <a:buChar char="•"/>
              <a:defRPr sz="1900"/>
            </a:pPr>
            <a:r>
              <a:rPr sz="1900" dirty="0">
                <a:sym typeface="Calibri"/>
              </a:rPr>
              <a:t>Created a timeline for the implementation of our project.</a:t>
            </a:r>
          </a:p>
        </p:txBody>
      </p:sp>
      <p:sp>
        <p:nvSpPr>
          <p:cNvPr id="16387" name="Slide Number Placeholder 1"/>
          <p:cNvSpPr>
            <a:spLocks noGrp="1" noChangeArrowheads="1"/>
          </p:cNvSpPr>
          <p:nvPr>
            <p:ph type="sldNum" sz="quarter" idx="10"/>
          </p:nvPr>
        </p:nvSpPr>
        <p:spPr>
          <a:noFill/>
        </p:spPr>
        <p:txBody>
          <a:bodyPr/>
          <a:lstStyle/>
          <a:p>
            <a:fld id="{41F605E1-8E52-44E0-B053-C60DD768D568}" type="slidenum">
              <a:rPr lang="en-US"/>
              <a:pPr/>
              <a:t>11</a:t>
            </a:fld>
            <a:endParaRPr lang="en-US"/>
          </a:p>
        </p:txBody>
      </p:sp>
      <p:pic>
        <p:nvPicPr>
          <p:cNvPr id="16389" name="Picture 2" descr="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212" y="4343400"/>
            <a:ext cx="5164138"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TextBox 1"/>
          <p:cNvSpPr txBox="1"/>
          <p:nvPr/>
        </p:nvSpPr>
        <p:spPr>
          <a:xfrm>
            <a:off x="2057400" y="6305550"/>
            <a:ext cx="5257800" cy="2923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685800" rtl="0" fontAlgn="auto" latinLnBrk="0" hangingPunct="0">
              <a:lnSpc>
                <a:spcPct val="100000"/>
              </a:lnSpc>
              <a:spcBef>
                <a:spcPts val="0"/>
              </a:spcBef>
              <a:spcAft>
                <a:spcPts val="0"/>
              </a:spcAft>
              <a:buClrTx/>
              <a:buSzTx/>
              <a:buFontTx/>
              <a:buNone/>
              <a:tabLst/>
            </a:pPr>
            <a:r>
              <a:rPr kumimoji="0" lang="en-US" sz="1300" b="1" i="0" u="none" strike="noStrike" cap="none" spc="0" normalizeH="0" baseline="0" dirty="0" smtClean="0">
                <a:ln>
                  <a:noFill/>
                </a:ln>
                <a:solidFill>
                  <a:srgbClr val="000000"/>
                </a:solidFill>
                <a:effectLst/>
                <a:uFillTx/>
                <a:latin typeface="+mj-lt"/>
                <a:ea typeface="+mj-ea"/>
                <a:cs typeface="+mj-cs"/>
                <a:sym typeface="Calibri"/>
              </a:rPr>
              <a:t>Figure 1:</a:t>
            </a:r>
            <a:r>
              <a:rPr kumimoji="0" lang="en-US" sz="1300" b="0" i="0" u="none" strike="noStrike" cap="none" spc="0" normalizeH="0" baseline="0" dirty="0" smtClean="0">
                <a:ln>
                  <a:noFill/>
                </a:ln>
                <a:solidFill>
                  <a:srgbClr val="000000"/>
                </a:solidFill>
                <a:effectLst/>
                <a:uFillTx/>
                <a:latin typeface="+mj-lt"/>
                <a:ea typeface="+mj-ea"/>
                <a:cs typeface="+mj-cs"/>
                <a:sym typeface="Calibri"/>
              </a:rPr>
              <a:t> Example of CNN</a:t>
            </a:r>
            <a:r>
              <a:rPr kumimoji="0" lang="en-US" sz="1300" b="0" i="0" u="none" strike="noStrike" cap="none" spc="0" normalizeH="0" dirty="0" smtClean="0">
                <a:ln>
                  <a:noFill/>
                </a:ln>
                <a:solidFill>
                  <a:srgbClr val="000000"/>
                </a:solidFill>
                <a:effectLst/>
                <a:uFillTx/>
                <a:latin typeface="+mj-lt"/>
                <a:ea typeface="+mj-ea"/>
                <a:cs typeface="+mj-cs"/>
                <a:sym typeface="Calibri"/>
              </a:rPr>
              <a:t> architecture [4] that we will utilize.</a:t>
            </a:r>
            <a:endParaRPr kumimoji="0" lang="en-US" sz="1300" b="0" i="0" u="none" strike="noStrike" cap="none" spc="0" normalizeH="0" baseline="0" dirty="0">
              <a:ln>
                <a:noFill/>
              </a:ln>
              <a:solidFill>
                <a:srgbClr val="000000"/>
              </a:solidFill>
              <a:effectLst/>
              <a:uFillTx/>
              <a:latin typeface="+mj-lt"/>
              <a:ea typeface="+mj-ea"/>
              <a:cs typeface="+mj-cs"/>
              <a:sym typeface="Calibri"/>
            </a:endParaRP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ontent Placeholder 2"/>
          <p:cNvSpPr txBox="1">
            <a:spLocks noGrp="1"/>
          </p:cNvSpPr>
          <p:nvPr>
            <p:ph type="body" idx="1"/>
          </p:nvPr>
        </p:nvSpPr>
        <p:spPr>
          <a:xfrm>
            <a:off x="628650" y="1143000"/>
            <a:ext cx="7886700" cy="5486400"/>
          </a:xfrm>
        </p:spPr>
        <p:txBody>
          <a:bodyPr>
            <a:normAutofit/>
          </a:bodyPr>
          <a:lstStyle/>
          <a:p>
            <a:pPr marL="0" indent="0" algn="just" defTabSz="905233" eaLnBrk="1" fontAlgn="auto" hangingPunct="1">
              <a:lnSpc>
                <a:spcPct val="72000"/>
              </a:lnSpc>
              <a:spcBef>
                <a:spcPts val="900"/>
              </a:spcBef>
              <a:spcAft>
                <a:spcPts val="0"/>
              </a:spcAft>
              <a:buSzTx/>
              <a:buFont typeface="Arial"/>
              <a:buNone/>
              <a:defRPr sz="2277" b="1"/>
            </a:pPr>
            <a:r>
              <a:rPr sz="2277" b="1" dirty="0">
                <a:sym typeface="Calibri"/>
              </a:rPr>
              <a:t>Conclusion:</a:t>
            </a:r>
          </a:p>
          <a:p>
            <a:pPr marL="0" indent="0" algn="just" defTabSz="905233" eaLnBrk="1" fontAlgn="auto" hangingPunct="1">
              <a:lnSpc>
                <a:spcPct val="72000"/>
              </a:lnSpc>
              <a:spcBef>
                <a:spcPts val="900"/>
              </a:spcBef>
              <a:spcAft>
                <a:spcPts val="0"/>
              </a:spcAft>
              <a:buSzTx/>
              <a:buFont typeface="Arial"/>
              <a:buNone/>
              <a:defRPr sz="2277"/>
            </a:pPr>
            <a:r>
              <a:rPr sz="2277" dirty="0">
                <a:sym typeface="Calibri"/>
              </a:rPr>
              <a:t>Sign Language Recognition has become an important point of interest and research in recent years. Correspondingly, a lot of new research papers have been published that discuss the advances in the technology and challenges. At the same time, this is still a very novel area of study in AI application. Our project aims to make a contribution in the development of SLR by creating a CNN model that will recognize Sign Language gestures presented as images and translate them into text. Our goal is to achieve the best performance possible and high </a:t>
            </a:r>
            <a:r>
              <a:rPr sz="2277" dirty="0" smtClean="0">
                <a:sym typeface="Calibri"/>
              </a:rPr>
              <a:t>accurac</a:t>
            </a:r>
            <a:r>
              <a:rPr lang="en-US" sz="2277" dirty="0" smtClean="0">
                <a:sym typeface="Calibri"/>
              </a:rPr>
              <a:t>y of at least 90% or higher</a:t>
            </a:r>
            <a:r>
              <a:rPr sz="2277" dirty="0" smtClean="0">
                <a:sym typeface="Calibri"/>
              </a:rPr>
              <a:t> </a:t>
            </a:r>
            <a:r>
              <a:rPr sz="2277" dirty="0">
                <a:sym typeface="Calibri"/>
              </a:rPr>
              <a:t>during recognition. We hope our project will be able to practically help many people.</a:t>
            </a:r>
          </a:p>
          <a:p>
            <a:pPr marL="0" indent="0" algn="just" defTabSz="905233" eaLnBrk="1" fontAlgn="auto" hangingPunct="1">
              <a:lnSpc>
                <a:spcPct val="72000"/>
              </a:lnSpc>
              <a:spcBef>
                <a:spcPts val="900"/>
              </a:spcBef>
              <a:spcAft>
                <a:spcPts val="0"/>
              </a:spcAft>
              <a:buSzTx/>
              <a:buFont typeface="Arial"/>
              <a:buNone/>
              <a:defRPr sz="2277" b="1"/>
            </a:pPr>
            <a:r>
              <a:rPr sz="2277" b="1" dirty="0">
                <a:sym typeface="Calibri"/>
              </a:rPr>
              <a:t>Future Work:</a:t>
            </a:r>
          </a:p>
          <a:p>
            <a:pPr marL="0" indent="0" algn="just" defTabSz="905233" eaLnBrk="1" fontAlgn="auto" hangingPunct="1">
              <a:lnSpc>
                <a:spcPct val="72000"/>
              </a:lnSpc>
              <a:spcBef>
                <a:spcPts val="900"/>
              </a:spcBef>
              <a:spcAft>
                <a:spcPts val="0"/>
              </a:spcAft>
              <a:buSzTx/>
              <a:buFont typeface="Arial"/>
              <a:buNone/>
              <a:defRPr sz="2277"/>
            </a:pPr>
            <a:r>
              <a:rPr sz="2277" dirty="0">
                <a:sym typeface="Calibri"/>
              </a:rPr>
              <a:t>At this time, our next steps are to implement the CNN model, train it using the MNIST Sign Language dataset, and tune the model to achieve the best performance possible during testing. The end goal is to demonstrate how the program works using images obtained in real time</a:t>
            </a:r>
            <a:r>
              <a:rPr sz="2277" dirty="0" smtClean="0">
                <a:sym typeface="Calibri"/>
              </a:rPr>
              <a:t>.</a:t>
            </a:r>
            <a:r>
              <a:rPr lang="en-US" sz="2277" dirty="0">
                <a:sym typeface="Calibri"/>
              </a:rPr>
              <a:t> </a:t>
            </a:r>
            <a:r>
              <a:rPr lang="en-US" sz="2277" dirty="0" smtClean="0">
                <a:sym typeface="Calibri"/>
              </a:rPr>
              <a:t>The long term plan is to recognize continuous Sign Language gestures presented as a video rather than a series of static images.</a:t>
            </a:r>
            <a:endParaRPr sz="2277" dirty="0">
              <a:sym typeface="Calibri"/>
            </a:endParaRPr>
          </a:p>
        </p:txBody>
      </p:sp>
      <p:sp>
        <p:nvSpPr>
          <p:cNvPr id="17412" name="Slide Number Placeholder 1"/>
          <p:cNvSpPr>
            <a:spLocks noGrp="1" noChangeArrowheads="1"/>
          </p:cNvSpPr>
          <p:nvPr>
            <p:ph type="sldNum" sz="quarter" idx="10"/>
          </p:nvPr>
        </p:nvSpPr>
        <p:spPr>
          <a:noFill/>
        </p:spPr>
        <p:txBody>
          <a:bodyPr/>
          <a:lstStyle/>
          <a:p>
            <a:fld id="{BB85F885-AD1F-4742-AB40-AC199CB3F867}" type="slidenum">
              <a:rPr lang="en-US"/>
              <a:pPr/>
              <a:t>12</a:t>
            </a:fld>
            <a:endParaRPr lang="en-US"/>
          </a:p>
        </p:txBody>
      </p:sp>
      <p:sp>
        <p:nvSpPr>
          <p:cNvPr id="17411"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CONCLUSION &amp; FUTURE WORK</a:t>
            </a: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txBox="1">
            <a:spLocks noGrp="1" noChangeArrowheads="1"/>
          </p:cNvSpPr>
          <p:nvPr>
            <p:ph type="body" idx="1"/>
          </p:nvPr>
        </p:nvSpPr>
        <p:spPr>
          <a:xfrm>
            <a:off x="457200" y="990600"/>
            <a:ext cx="8320088" cy="5422900"/>
          </a:xfrm>
        </p:spPr>
        <p:txBody>
          <a:bodyPr/>
          <a:lstStyle>
            <a:lvl1pPr marL="514350" indent="-514350">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algn="just" eaLnBrk="1" hangingPunct="1">
              <a:lnSpc>
                <a:spcPct val="72000"/>
              </a:lnSpc>
              <a:buFontTx/>
              <a:buAutoNum type="arabicPeriod"/>
            </a:pPr>
            <a:r>
              <a:rPr lang="en-US" sz="1800" dirty="0" smtClean="0"/>
              <a:t>Abdullah, A., </a:t>
            </a:r>
            <a:r>
              <a:rPr lang="en-US" sz="1800" dirty="0" err="1" smtClean="0"/>
              <a:t>Amoudi</a:t>
            </a:r>
            <a:r>
              <a:rPr lang="en-US" sz="1800" dirty="0" smtClean="0"/>
              <a:t>, G. A., &amp; </a:t>
            </a:r>
            <a:r>
              <a:rPr lang="en-US" sz="1800" dirty="0" err="1" smtClean="0"/>
              <a:t>Alghamdi</a:t>
            </a:r>
            <a:r>
              <a:rPr lang="en-US" sz="1800" dirty="0" smtClean="0"/>
              <a:t>, H. S. (2024). Advancements in Sign Language Recognition: A Comprehensive Review and Future Prospects. IEEE Access, 12, 128871–128895. </a:t>
            </a:r>
          </a:p>
          <a:p>
            <a:pPr algn="just" eaLnBrk="1" hangingPunct="1">
              <a:lnSpc>
                <a:spcPct val="72000"/>
              </a:lnSpc>
              <a:buFontTx/>
              <a:buAutoNum type="arabicPeriod"/>
            </a:pPr>
            <a:r>
              <a:rPr lang="en-US" sz="1800" dirty="0" err="1" smtClean="0"/>
              <a:t>Alam</a:t>
            </a:r>
            <a:r>
              <a:rPr lang="en-US" sz="1800" dirty="0" smtClean="0"/>
              <a:t>, I., </a:t>
            </a:r>
            <a:r>
              <a:rPr lang="en-US" sz="1800" dirty="0" err="1" smtClean="0"/>
              <a:t>Hameed</a:t>
            </a:r>
            <a:r>
              <a:rPr lang="en-US" sz="1800" dirty="0" smtClean="0"/>
              <a:t>, A., &amp; </a:t>
            </a:r>
            <a:r>
              <a:rPr lang="en-US" sz="1800" dirty="0" err="1" smtClean="0"/>
              <a:t>Riaz</a:t>
            </a:r>
            <a:r>
              <a:rPr lang="en-US" sz="1800" dirty="0" smtClean="0"/>
              <a:t>, A. Z. (2024). Exploring Sign Language Detection on Smartphones: A Systematic Review of Machine and Deep Learning Approaches. Advances in Human - Computer Interaction, 2024.</a:t>
            </a:r>
          </a:p>
          <a:p>
            <a:pPr algn="just" eaLnBrk="1" hangingPunct="1">
              <a:lnSpc>
                <a:spcPct val="72000"/>
              </a:lnSpc>
              <a:buFontTx/>
              <a:buAutoNum type="arabicPeriod"/>
            </a:pPr>
            <a:r>
              <a:rPr lang="en-US" sz="1800" dirty="0" err="1" smtClean="0"/>
              <a:t>Ankita</a:t>
            </a:r>
            <a:r>
              <a:rPr lang="en-US" sz="1800" dirty="0" smtClean="0"/>
              <a:t>, W., &amp; </a:t>
            </a:r>
            <a:r>
              <a:rPr lang="en-US" sz="1800" dirty="0" err="1" smtClean="0"/>
              <a:t>Parteek</a:t>
            </a:r>
            <a:r>
              <a:rPr lang="en-US" sz="1800" dirty="0" smtClean="0"/>
              <a:t>, K. (2021). Sign Language Recognition Systems: A Decade Systematic Literature Review. Archives of Computational Methods in Engineering, 28(3), 785-813.  </a:t>
            </a:r>
            <a:endParaRPr lang="en-US" sz="1800" dirty="0" smtClean="0"/>
          </a:p>
          <a:p>
            <a:pPr algn="just" eaLnBrk="1" hangingPunct="1">
              <a:lnSpc>
                <a:spcPct val="72000"/>
              </a:lnSpc>
              <a:buFontTx/>
              <a:buAutoNum type="arabicPeriod"/>
            </a:pPr>
            <a:r>
              <a:rPr lang="en-US" sz="1800" dirty="0" err="1" smtClean="0"/>
              <a:t>Codecademy</a:t>
            </a:r>
            <a:r>
              <a:rPr lang="en-US" sz="1800" dirty="0" smtClean="0"/>
              <a:t>. (2025, March 27). Understanding Convolutional Neural Network (CNN) Architecture. </a:t>
            </a:r>
            <a:r>
              <a:rPr lang="en-US" sz="1800" dirty="0" err="1" smtClean="0"/>
              <a:t>Codecademy</a:t>
            </a:r>
            <a:r>
              <a:rPr lang="en-US" sz="1800" dirty="0" smtClean="0"/>
              <a:t>. https://www.codecademy.com/article/ understanding-convolutional-neural-network-</a:t>
            </a:r>
            <a:r>
              <a:rPr lang="en-US" sz="1800" dirty="0" err="1" smtClean="0"/>
              <a:t>cnn</a:t>
            </a:r>
            <a:r>
              <a:rPr lang="en-US" sz="1800" dirty="0" smtClean="0"/>
              <a:t>-architecture.</a:t>
            </a:r>
          </a:p>
          <a:p>
            <a:pPr algn="just" eaLnBrk="1" hangingPunct="1">
              <a:lnSpc>
                <a:spcPct val="72000"/>
              </a:lnSpc>
              <a:buFontTx/>
              <a:buAutoNum type="arabicPeriod"/>
            </a:pPr>
            <a:r>
              <a:rPr lang="en-US" sz="1800" dirty="0" err="1" smtClean="0"/>
              <a:t>Nagagopiraju</a:t>
            </a:r>
            <a:r>
              <a:rPr lang="en-US" sz="1800" dirty="0" smtClean="0"/>
              <a:t>, V., Reddy, Y. V., </a:t>
            </a:r>
            <a:r>
              <a:rPr lang="en-US" sz="1800" dirty="0" err="1" smtClean="0"/>
              <a:t>Raju</a:t>
            </a:r>
            <a:r>
              <a:rPr lang="en-US" sz="1800" dirty="0" smtClean="0"/>
              <a:t>, C. S., </a:t>
            </a:r>
            <a:r>
              <a:rPr lang="en-US" sz="1800" dirty="0" err="1" smtClean="0"/>
              <a:t>Sai</a:t>
            </a:r>
            <a:r>
              <a:rPr lang="en-US" sz="1800" dirty="0" smtClean="0"/>
              <a:t>, N. S., &amp; Vishnu, N. (2025). Deep Learning and Computer Vision Based Sign Language Dynamic Gesture Recognition System. International Journal of Communication Networks and Information Security, 17(3), 89-95. </a:t>
            </a:r>
          </a:p>
          <a:p>
            <a:pPr algn="just" eaLnBrk="1" hangingPunct="1">
              <a:lnSpc>
                <a:spcPct val="72000"/>
              </a:lnSpc>
              <a:buFontTx/>
              <a:buAutoNum type="arabicPeriod"/>
            </a:pPr>
            <a:r>
              <a:rPr lang="en-US" sz="1800" dirty="0" err="1" smtClean="0"/>
              <a:t>Rastgoo</a:t>
            </a:r>
            <a:r>
              <a:rPr lang="en-US" sz="1800" dirty="0" smtClean="0"/>
              <a:t>, R., </a:t>
            </a:r>
            <a:r>
              <a:rPr lang="en-US" sz="1800" dirty="0" err="1" smtClean="0"/>
              <a:t>Kiani</a:t>
            </a:r>
            <a:r>
              <a:rPr lang="en-US" sz="1800" dirty="0" smtClean="0"/>
              <a:t>, K., &amp; </a:t>
            </a:r>
            <a:r>
              <a:rPr lang="en-US" sz="1800" dirty="0" err="1" smtClean="0"/>
              <a:t>Escalera</a:t>
            </a:r>
            <a:r>
              <a:rPr lang="en-US" sz="1800" dirty="0" smtClean="0"/>
              <a:t>, S. (2021). Sign Language Recognition: A Deep Survey. Expert Systems with Applications, 164, 1. </a:t>
            </a:r>
          </a:p>
          <a:p>
            <a:pPr algn="just" eaLnBrk="1" hangingPunct="1">
              <a:lnSpc>
                <a:spcPct val="72000"/>
              </a:lnSpc>
              <a:buFontTx/>
              <a:buAutoNum type="arabicPeriod"/>
            </a:pPr>
            <a:r>
              <a:rPr lang="en-US" sz="1800" dirty="0" smtClean="0"/>
              <a:t>Sign Language MNIST. (</a:t>
            </a:r>
            <a:r>
              <a:rPr lang="en-US" sz="1800" dirty="0" err="1" smtClean="0"/>
              <a:t>n.d.</a:t>
            </a:r>
            <a:r>
              <a:rPr lang="en-US" sz="1800" dirty="0" smtClean="0"/>
              <a:t>). Www.kaggle.com. https://www.kaggle.com/datasets/ </a:t>
            </a:r>
            <a:r>
              <a:rPr lang="en-US" sz="1800" dirty="0" err="1" smtClean="0"/>
              <a:t>datamunge</a:t>
            </a:r>
            <a:r>
              <a:rPr lang="en-US" sz="1800" dirty="0" smtClean="0"/>
              <a:t>/sign-language-</a:t>
            </a:r>
            <a:r>
              <a:rPr lang="en-US" sz="1800" dirty="0" err="1" smtClean="0"/>
              <a:t>mnist</a:t>
            </a:r>
            <a:r>
              <a:rPr lang="en-US" sz="1800" dirty="0" smtClean="0"/>
              <a:t> </a:t>
            </a:r>
          </a:p>
          <a:p>
            <a:pPr algn="just" eaLnBrk="1" hangingPunct="1">
              <a:lnSpc>
                <a:spcPct val="72000"/>
              </a:lnSpc>
              <a:buFontTx/>
              <a:buAutoNum type="arabicPeriod"/>
            </a:pPr>
            <a:r>
              <a:rPr lang="en-US" sz="1800" dirty="0" err="1" smtClean="0"/>
              <a:t>Varma</a:t>
            </a:r>
            <a:r>
              <a:rPr lang="en-US" sz="1800" dirty="0" smtClean="0"/>
              <a:t>, D. M., &amp; Ch. </a:t>
            </a:r>
            <a:r>
              <a:rPr lang="en-US" sz="1800" dirty="0" err="1" smtClean="0"/>
              <a:t>Sekhar</a:t>
            </a:r>
            <a:r>
              <a:rPr lang="en-US" sz="1800" dirty="0" smtClean="0"/>
              <a:t>. (2024). Advances in AI for Automatic Sign Language Recognition: A Comparative Study of Machine Learning Approaches. I-Manager's Journal on Software Engineering, 19(2), 10. </a:t>
            </a:r>
          </a:p>
        </p:txBody>
      </p:sp>
      <p:sp>
        <p:nvSpPr>
          <p:cNvPr id="18436" name="Slide Number Placeholder 1"/>
          <p:cNvSpPr>
            <a:spLocks noGrp="1" noChangeArrowheads="1"/>
          </p:cNvSpPr>
          <p:nvPr>
            <p:ph type="sldNum" sz="quarter" idx="10"/>
          </p:nvPr>
        </p:nvSpPr>
        <p:spPr>
          <a:noFill/>
        </p:spPr>
        <p:txBody>
          <a:bodyPr/>
          <a:lstStyle/>
          <a:p>
            <a:fld id="{2F0768D0-5F9D-4AE8-952B-61ABEDD9F6CF}" type="slidenum">
              <a:rPr lang="en-US"/>
              <a:pPr/>
              <a:t>13</a:t>
            </a:fld>
            <a:endParaRPr lang="en-US"/>
          </a:p>
        </p:txBody>
      </p:sp>
      <p:sp>
        <p:nvSpPr>
          <p:cNvPr id="18435"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REFERENCES</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p:cNvSpPr>
            <a:spLocks noGrp="1" noChangeArrowheads="1"/>
          </p:cNvSpPr>
          <p:nvPr>
            <p:ph type="sldNum" sz="quarter" idx="10"/>
          </p:nvPr>
        </p:nvSpPr>
        <p:spPr>
          <a:noFill/>
        </p:spPr>
        <p:txBody>
          <a:bodyPr/>
          <a:lstStyle/>
          <a:p>
            <a:fld id="{F3A1C9A0-A982-4312-B76D-3063BE5E5E93}" type="slidenum">
              <a:rPr lang="en-US"/>
              <a:pPr/>
              <a:t>14</a:t>
            </a:fld>
            <a:endParaRPr lang="en-US"/>
          </a:p>
        </p:txBody>
      </p:sp>
      <p:sp>
        <p:nvSpPr>
          <p:cNvPr id="19459" name="Title 1"/>
          <p:cNvSpPr txBox="1">
            <a:spLocks noChangeArrowheads="1"/>
          </p:cNvSpPr>
          <p:nvPr/>
        </p:nvSpPr>
        <p:spPr bwMode="auto">
          <a:xfrm>
            <a:off x="5734050" y="2552700"/>
            <a:ext cx="2820988"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defTabSz="912813">
              <a:defRPr sz="1300">
                <a:solidFill>
                  <a:srgbClr val="000000"/>
                </a:solidFill>
                <a:latin typeface="Calibri" pitchFamily="34" charset="0"/>
                <a:cs typeface="Calibri" pitchFamily="34" charset="0"/>
                <a:sym typeface="Calibri" pitchFamily="34" charset="0"/>
              </a:defRPr>
            </a:lvl1pPr>
            <a:lvl2pPr defTabSz="912813">
              <a:defRPr sz="1300">
                <a:solidFill>
                  <a:srgbClr val="000000"/>
                </a:solidFill>
                <a:latin typeface="Calibri" pitchFamily="34" charset="0"/>
                <a:cs typeface="Calibri" pitchFamily="34" charset="0"/>
                <a:sym typeface="Calibri" pitchFamily="34" charset="0"/>
              </a:defRPr>
            </a:lvl2pPr>
            <a:lvl3pPr defTabSz="912813">
              <a:defRPr sz="1300">
                <a:solidFill>
                  <a:srgbClr val="000000"/>
                </a:solidFill>
                <a:latin typeface="Calibri" pitchFamily="34" charset="0"/>
                <a:cs typeface="Calibri" pitchFamily="34" charset="0"/>
                <a:sym typeface="Calibri" pitchFamily="34" charset="0"/>
              </a:defRPr>
            </a:lvl3pPr>
            <a:lvl4pPr defTabSz="912813">
              <a:defRPr sz="1300">
                <a:solidFill>
                  <a:srgbClr val="000000"/>
                </a:solidFill>
                <a:latin typeface="Calibri" pitchFamily="34" charset="0"/>
                <a:cs typeface="Calibri" pitchFamily="34" charset="0"/>
                <a:sym typeface="Calibri" pitchFamily="34" charset="0"/>
              </a:defRPr>
            </a:lvl4pPr>
            <a:lvl5pPr defTabSz="912813">
              <a:defRPr sz="1300">
                <a:solidFill>
                  <a:srgbClr val="000000"/>
                </a:solidFill>
                <a:latin typeface="Calibri" pitchFamily="34" charset="0"/>
                <a:cs typeface="Calibri" pitchFamily="34" charset="0"/>
                <a:sym typeface="Calibri" pitchFamily="34" charset="0"/>
              </a:defRPr>
            </a:lvl5pPr>
            <a:lvl6pPr marL="457200" indent="1371600" defTabSz="912813"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912813"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912813"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912813"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pPr>
            <a:r>
              <a:rPr lang="en-US" sz="4400">
                <a:latin typeface="Calibri Light" pitchFamily="34" charset="0"/>
                <a:cs typeface="Calibri Light" pitchFamily="34" charset="0"/>
                <a:sym typeface="Calibri Light" pitchFamily="34" charset="0"/>
              </a:rPr>
              <a:t>Questions</a:t>
            </a:r>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TotalTime>
  <Words>1202</Words>
  <Application>Microsoft Office PowerPoint</Application>
  <PresentationFormat>On-screen Show (4:3)</PresentationFormat>
  <Paragraphs>157</Paragraphs>
  <Slides>14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Arial</vt:lpstr>
      <vt:lpstr>Calibri Light</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Vitalik</dc:creator>
  <cp:lastModifiedBy>Vitalik</cp:lastModifiedBy>
  <cp:revision>9</cp:revision>
  <dcterms:modified xsi:type="dcterms:W3CDTF">2026-03-03T03:23:35Z</dcterms:modified>
</cp:coreProperties>
</file>